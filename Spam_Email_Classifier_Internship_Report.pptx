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Dataset Class Balance</a:t>
            </a:r>
          </a:p>
        </c:rich>
      </c:tx>
      <c:layout/>
      <c:overlay val="0"/>
    </c:title>
    <c:autoTitleDeleted val="0"/>
    <c:plotArea>
      <c:layout/>
      <c:doughnutChart>
        <c:varyColors val="1"/>
        <c:ser>
          <c:idx val="0"/>
          <c:order val="0"/>
          <c:tx>
            <c:strRef>
              <c:f>Sheet1!$B$1</c:f>
              <c:strCache>
                <c:ptCount val="1"/>
                <c:pt idx="0">
                  <c:v>Class Split</c:v>
                </c:pt>
              </c:strCache>
            </c:strRef>
          </c:tx>
          <c:spPr>
            <a:solidFill>
              <a:schemeClr val="accent1"/>
            </a:solidFill>
            <a:ln w="9525" cap="flat">
              <a:solidFill>
                <a:srgbClr val="F9F9F9"/>
              </a:solidFill>
              <a:prstDash val="solid"/>
              <a:round/>
            </a:ln>
            <a:effectLst/>
          </c:spPr>
          <c:dPt>
            <c:idx val="0"/>
            <c:bubble3D val="0"/>
            <c:spPr>
              <a:solidFill>
                <a:srgbClr val="1E2761"/>
              </a:solidFill>
              <a:effectLst/>
            </c:spPr>
          </c:dPt>
          <c:dPt>
            <c:idx val="1"/>
            <c:bubble3D val="0"/>
            <c:spPr>
              <a:solidFill>
                <a:srgbClr val="3B82F6"/>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Spam</c:v>
                </c:pt>
                <c:pt idx="1">
                  <c:v>Ham</c:v>
                </c:pt>
              </c:strCache>
            </c:strRef>
          </c:cat>
          <c:val>
            <c:numRef>
              <c:f>Sheet1!$B$2:$B$3</c:f>
              <c:numCache>
                <c:ptCount val="2"/>
                <c:pt idx="0">
                  <c:v>150</c:v>
                </c:pt>
                <c:pt idx="1">
                  <c:v>150</c:v>
                </c:pt>
              </c:numCache>
            </c:numRef>
          </c:val>
        </c:ser>
        <c:firstSliceAng val="0"/>
        <c:holeSize val="50"/>
      </c:doughnut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Model Performance (%) on Test Set</a:t>
            </a:r>
          </a:p>
        </c:rich>
      </c:tx>
      <c:layout/>
      <c:overlay val="0"/>
    </c:title>
    <c:autoTitleDeleted val="0"/>
    <c:plotArea>
      <c:layout/>
      <c:barChart>
        <c:barDir val="col"/>
        <c:grouping val="clustered"/>
        <c:varyColors val="0"/>
        <c:ser>
          <c:idx val="0"/>
          <c:order val="0"/>
          <c:tx>
            <c:strRef>
              <c:f>Sheet1!$B$1</c:f>
              <c:strCache>
                <c:ptCount val="1"/>
                <c:pt idx="0">
                  <c:v>Multinomial NB</c:v>
                </c:pt>
              </c:strCache>
            </c:strRef>
          </c:tx>
          <c:spPr>
            <a:solidFill>
              <a:srgbClr val="1E2761"/>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100</c:v>
                </c:pt>
                <c:pt idx="1">
                  <c:v>100</c:v>
                </c:pt>
                <c:pt idx="2">
                  <c:v>100</c:v>
                </c:pt>
                <c:pt idx="3">
                  <c:v>100</c:v>
                </c:pt>
              </c:numCache>
            </c:numRef>
          </c:val>
        </c:ser>
        <c:ser>
          <c:idx val="1"/>
          <c:order val="1"/>
          <c:tx>
            <c:strRef>
              <c:f>Sheet1!$C$1</c:f>
              <c:strCache>
                <c:ptCount val="1"/>
                <c:pt idx="0">
                  <c:v>Logistic Regression</c:v>
                </c:pt>
              </c:strCache>
            </c:strRef>
          </c:tx>
          <c:spPr>
            <a:solidFill>
              <a:srgbClr val="3B82F6"/>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100</c:v>
                </c:pt>
                <c:pt idx="1">
                  <c:v>100</c:v>
                </c:pt>
                <c:pt idx="2">
                  <c:v>100</c:v>
                </c:pt>
                <c:pt idx="3">
                  <c:v>100</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5394960"/>
            <a:ext cx="12188952" cy="1463040"/>
          </a:xfrm>
          <a:prstGeom prst="rect">
            <a:avLst/>
          </a:prstGeom>
          <a:solidFill>
            <a:srgbClr val="16204F"/>
          </a:solidFill>
          <a:ln/>
        </p:spPr>
      </p:sp>
      <p:sp>
        <p:nvSpPr>
          <p:cNvPr id="3" name="Shape 1"/>
          <p:cNvSpPr/>
          <p:nvPr/>
        </p:nvSpPr>
        <p:spPr>
          <a:xfrm>
            <a:off x="9509760" y="-1463040"/>
            <a:ext cx="4754880" cy="4754880"/>
          </a:xfrm>
          <a:prstGeom prst="ellipse">
            <a:avLst/>
          </a:prstGeom>
          <a:solidFill>
            <a:srgbClr val="2A3577"/>
          </a:solidFill>
          <a:ln/>
        </p:spPr>
      </p:sp>
      <p:sp>
        <p:nvSpPr>
          <p:cNvPr id="4" name="Shape 2"/>
          <p:cNvSpPr/>
          <p:nvPr/>
        </p:nvSpPr>
        <p:spPr>
          <a:xfrm>
            <a:off x="-1463040" y="4206240"/>
            <a:ext cx="3657600" cy="3657600"/>
          </a:xfrm>
          <a:prstGeom prst="ellipse">
            <a:avLst/>
          </a:prstGeom>
          <a:solidFill>
            <a:srgbClr val="26317A"/>
          </a:solidFill>
          <a:ln/>
        </p:spPr>
      </p:sp>
      <p:sp>
        <p:nvSpPr>
          <p:cNvPr id="5" name="Text 3"/>
          <p:cNvSpPr/>
          <p:nvPr/>
        </p:nvSpPr>
        <p:spPr>
          <a:xfrm>
            <a:off x="822960" y="1554480"/>
            <a:ext cx="9144000" cy="365760"/>
          </a:xfrm>
          <a:prstGeom prst="rect">
            <a:avLst/>
          </a:prstGeom>
          <a:noFill/>
          <a:ln/>
        </p:spPr>
        <p:txBody>
          <a:bodyPr wrap="square" lIns="0" tIns="0" rIns="0" bIns="0" rtlCol="0" anchor="ctr"/>
          <a:lstStyle/>
          <a:p>
            <a:pPr indent="0" marL="0">
              <a:buNone/>
            </a:pPr>
            <a:r>
              <a:rPr lang="en-US" sz="1400" spc="300" kern="0" dirty="0">
                <a:solidFill>
                  <a:srgbClr val="CADCFC"/>
                </a:solidFill>
                <a:latin typeface="Calibri" pitchFamily="34" charset="0"/>
                <a:ea typeface="Calibri" pitchFamily="34" charset="-122"/>
                <a:cs typeface="Calibri" pitchFamily="34" charset="-120"/>
              </a:rPr>
              <a:t>INTERNSHIP PROJECT REPORT</a:t>
            </a:r>
            <a:endParaRPr lang="en-US" sz="1400" dirty="0"/>
          </a:p>
        </p:txBody>
      </p:sp>
      <p:sp>
        <p:nvSpPr>
          <p:cNvPr id="6" name="Text 4"/>
          <p:cNvSpPr/>
          <p:nvPr/>
        </p:nvSpPr>
        <p:spPr>
          <a:xfrm>
            <a:off x="777240" y="1965960"/>
            <a:ext cx="10058400" cy="17373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Spam Email Classifier</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Using Machine Learning</a:t>
            </a:r>
            <a:endParaRPr lang="en-US" sz="4600" dirty="0"/>
          </a:p>
        </p:txBody>
      </p:sp>
      <p:sp>
        <p:nvSpPr>
          <p:cNvPr id="7" name="Text 5"/>
          <p:cNvSpPr/>
          <p:nvPr/>
        </p:nvSpPr>
        <p:spPr>
          <a:xfrm>
            <a:off x="822960" y="3794760"/>
            <a:ext cx="868680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A Machine Learning based system to automatically detect and filter spam emails</a:t>
            </a:r>
            <a:endParaRPr lang="en-US" sz="1600" dirty="0"/>
          </a:p>
        </p:txBody>
      </p:sp>
      <p:sp>
        <p:nvSpPr>
          <p:cNvPr id="8" name="Shape 6"/>
          <p:cNvSpPr/>
          <p:nvPr/>
        </p:nvSpPr>
        <p:spPr>
          <a:xfrm>
            <a:off x="822960" y="4434840"/>
            <a:ext cx="2011680" cy="0"/>
          </a:xfrm>
          <a:prstGeom prst="line">
            <a:avLst/>
          </a:prstGeom>
          <a:noFill/>
          <a:ln w="38100">
            <a:solidFill>
              <a:srgbClr val="3B82F6"/>
            </a:solidFill>
            <a:prstDash val="solid"/>
          </a:ln>
        </p:spPr>
      </p:sp>
      <p:sp>
        <p:nvSpPr>
          <p:cNvPr id="9" name="Text 7"/>
          <p:cNvSpPr/>
          <p:nvPr/>
        </p:nvSpPr>
        <p:spPr>
          <a:xfrm>
            <a:off x="822960" y="4709160"/>
            <a:ext cx="7315200" cy="1188720"/>
          </a:xfrm>
          <a:prstGeom prst="rect">
            <a:avLst/>
          </a:prstGeom>
          <a:noFill/>
          <a:ln/>
        </p:spPr>
        <p:txBody>
          <a:bodyPr wrap="square" lIns="0" tIns="0" rIns="0" bIns="0" rtlCol="0" anchor="ctr"/>
          <a:lstStyle/>
          <a:p>
            <a:pPr indent="0" marL="0">
              <a:lnSpc>
                <a:spcPct val="140000"/>
              </a:lnSpc>
              <a:buNone/>
            </a:pPr>
            <a:r>
              <a:rPr lang="en-US" sz="1500" b="1" dirty="0">
                <a:solidFill>
                  <a:srgbClr val="FFFFFF"/>
                </a:solidFill>
                <a:latin typeface="Calibri" pitchFamily="34" charset="0"/>
                <a:ea typeface="Calibri" pitchFamily="34" charset="-122"/>
                <a:cs typeface="Calibri" pitchFamily="34" charset="-120"/>
              </a:rPr>
              <a:t>Submitted by: </a:t>
            </a:r>
            <a:pPr indent="0" marL="0">
              <a:lnSpc>
                <a:spcPct val="140000"/>
              </a:lnSpc>
              <a:buNone/>
            </a:pPr>
            <a:r>
              <a:rPr lang="en-US" sz="1500" dirty="0">
                <a:solidFill>
                  <a:srgbClr val="CADCFC"/>
                </a:solidFill>
                <a:latin typeface="Calibri" pitchFamily="34" charset="0"/>
                <a:ea typeface="Calibri" pitchFamily="34" charset="-122"/>
                <a:cs typeface="Calibri" pitchFamily="34" charset="-120"/>
              </a:rPr>
              <a:t>M.V. Prasanth</a:t>
            </a:r>
            <a:endParaRPr lang="en-US" sz="1500" dirty="0"/>
          </a:p>
          <a:p>
            <a:pPr indent="0" marL="0">
              <a:lnSpc>
                <a:spcPct val="140000"/>
              </a:lnSpc>
              <a:buNone/>
            </a:pPr>
            <a:r>
              <a:rPr lang="en-US" sz="1500" b="1" dirty="0">
                <a:solidFill>
                  <a:srgbClr val="FFFFFF"/>
                </a:solidFill>
                <a:latin typeface="Calibri" pitchFamily="34" charset="0"/>
                <a:ea typeface="Calibri" pitchFamily="34" charset="-122"/>
                <a:cs typeface="Calibri" pitchFamily="34" charset="-120"/>
              </a:rPr>
              <a:t>Organization: </a:t>
            </a:r>
            <a:pPr indent="0" marL="0">
              <a:lnSpc>
                <a:spcPct val="140000"/>
              </a:lnSpc>
              <a:buNone/>
            </a:pPr>
            <a:r>
              <a:rPr lang="en-US" sz="1500" dirty="0">
                <a:solidFill>
                  <a:srgbClr val="CADCFC"/>
                </a:solidFill>
                <a:latin typeface="Calibri" pitchFamily="34" charset="0"/>
                <a:ea typeface="Calibri" pitchFamily="34" charset="-122"/>
                <a:cs typeface="Calibri" pitchFamily="34" charset="-120"/>
              </a:rPr>
              <a:t>Alpha Innovations</a:t>
            </a:r>
            <a:endParaRPr lang="en-US" sz="1500" dirty="0"/>
          </a:p>
          <a:p>
            <a:pPr indent="0" marL="0">
              <a:lnSpc>
                <a:spcPct val="140000"/>
              </a:lnSpc>
              <a:buNone/>
            </a:pPr>
            <a:r>
              <a:rPr lang="en-US" sz="1500" b="1" dirty="0">
                <a:solidFill>
                  <a:srgbClr val="FFFFFF"/>
                </a:solidFill>
                <a:latin typeface="Calibri" pitchFamily="34" charset="0"/>
                <a:ea typeface="Calibri" pitchFamily="34" charset="-122"/>
                <a:cs typeface="Calibri" pitchFamily="34" charset="-120"/>
              </a:rPr>
              <a:t>Duration: </a:t>
            </a:r>
            <a:pPr indent="0" marL="0">
              <a:lnSpc>
                <a:spcPct val="140000"/>
              </a:lnSpc>
              <a:buNone/>
            </a:pPr>
            <a:r>
              <a:rPr lang="en-US" sz="1500" dirty="0">
                <a:solidFill>
                  <a:srgbClr val="CADCFC"/>
                </a:solidFill>
                <a:latin typeface="Calibri" pitchFamily="34" charset="0"/>
                <a:ea typeface="Calibri" pitchFamily="34" charset="-122"/>
                <a:cs typeface="Calibri" pitchFamily="34" charset="-120"/>
              </a:rPr>
              <a:t>2 Months</a:t>
            </a:r>
            <a:endParaRPr lang="en-US" sz="1500" dirty="0"/>
          </a:p>
        </p:txBody>
      </p:sp>
      <p:sp>
        <p:nvSpPr>
          <p:cNvPr id="10" name="Text 8"/>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Acknowledgement</a:t>
            </a:r>
            <a:endParaRPr lang="en-US" sz="3000" dirty="0"/>
          </a:p>
        </p:txBody>
      </p:sp>
      <p:sp>
        <p:nvSpPr>
          <p:cNvPr id="4" name="Shape 2"/>
          <p:cNvSpPr/>
          <p:nvPr/>
        </p:nvSpPr>
        <p:spPr>
          <a:xfrm>
            <a:off x="640080" y="1463040"/>
            <a:ext cx="10881360" cy="4480560"/>
          </a:xfrm>
          <a:prstGeom prst="rect">
            <a:avLst>
              <a:gd name="adj" fmla="val 1633"/>
            </a:avLst>
          </a:prstGeom>
          <a:solidFill>
            <a:srgbClr val="F4F7FD"/>
          </a:solidFill>
          <a:ln/>
        </p:spPr>
      </p:sp>
      <p:sp>
        <p:nvSpPr>
          <p:cNvPr id="5" name="Text 3"/>
          <p:cNvSpPr/>
          <p:nvPr/>
        </p:nvSpPr>
        <p:spPr>
          <a:xfrm>
            <a:off x="1005840" y="1783080"/>
            <a:ext cx="10149840" cy="3931920"/>
          </a:xfrm>
          <a:prstGeom prst="rect">
            <a:avLst/>
          </a:prstGeom>
          <a:noFill/>
          <a:ln/>
        </p:spPr>
        <p:txBody>
          <a:bodyPr wrap="square" lIns="0" tIns="0" rIns="0" bIns="0" rtlCol="0" anchor="ctr"/>
          <a:lstStyle/>
          <a:p>
            <a:pPr indent="0" marL="0">
              <a:lnSpc>
                <a:spcPct val="130000"/>
              </a:lnSpc>
              <a:buNone/>
            </a:pPr>
            <a:r>
              <a:rPr lang="en-US" sz="1600" i="1" dirty="0">
                <a:solidFill>
                  <a:srgbClr val="1B1B1F"/>
                </a:solidFill>
                <a:latin typeface="Calibri" pitchFamily="34" charset="0"/>
                <a:ea typeface="Calibri" pitchFamily="34" charset="-122"/>
                <a:cs typeface="Calibri" pitchFamily="34" charset="-120"/>
              </a:rPr>
              <a:t>I would like to express my sincere gratitude to Alpha Innovations for providing me the opportunity to undertake this two-month internship in Machine Learning. I am thankful to my mentors and the technical team for their continuous guidance, valuable feedback, and support throughout the development of this project.</a:t>
            </a:r>
            <a:endParaRPr lang="en-US" sz="1600" dirty="0"/>
          </a:p>
          <a:p>
            <a:pPr indent="0" marL="0">
              <a:lnSpc>
                <a:spcPct val="130000"/>
              </a:lnSpc>
              <a:buNone/>
            </a:pPr>
            <a:endParaRPr lang="en-US" sz="1600" dirty="0"/>
          </a:p>
          <a:p>
            <a:pPr indent="0" marL="0">
              <a:lnSpc>
                <a:spcPct val="130000"/>
              </a:lnSpc>
              <a:buNone/>
            </a:pPr>
            <a:r>
              <a:rPr lang="en-US" sz="1600" i="1" dirty="0">
                <a:solidFill>
                  <a:srgbClr val="1B1B1F"/>
                </a:solidFill>
                <a:latin typeface="Calibri" pitchFamily="34" charset="0"/>
                <a:ea typeface="Calibri" pitchFamily="34" charset="-122"/>
                <a:cs typeface="Calibri" pitchFamily="34" charset="-120"/>
              </a:rPr>
              <a:t>I also extend my thanks to my college faculty for their encouragement and for providing the foundational knowledge that made this internship possible. This project on Spam Email Classification has been an enriching learning experience that strengthened my practical understanding of machine learning and natural language processing.</a:t>
            </a:r>
            <a:endParaRPr lang="en-US" sz="1600" dirty="0"/>
          </a:p>
          <a:p>
            <a:pPr indent="0" marL="0">
              <a:lnSpc>
                <a:spcPct val="130000"/>
              </a:lnSpc>
              <a:buNone/>
            </a:pPr>
            <a:endParaRPr lang="en-US" sz="1600" dirty="0"/>
          </a:p>
          <a:p>
            <a:pPr indent="0" marL="0">
              <a:lnSpc>
                <a:spcPct val="130000"/>
              </a:lnSpc>
              <a:buNone/>
            </a:pPr>
            <a:r>
              <a:rPr lang="en-US" sz="1600" i="1" dirty="0">
                <a:solidFill>
                  <a:srgbClr val="1B1B1F"/>
                </a:solidFill>
                <a:latin typeface="Calibri" pitchFamily="34" charset="0"/>
                <a:ea typeface="Calibri" pitchFamily="34" charset="-122"/>
                <a:cs typeface="Calibri" pitchFamily="34" charset="-120"/>
              </a:rPr>
              <a:t>— M.V. Prasanth</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Abstract</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Project summary</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Email spam continues to be one of the most persistent problems in digital communication, consuming bandwidth and posing phishing/security risks.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This project implements a supervised Machine Learning pipeline that automatically classifies emails as spam or ham (legitimate).</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The system uses TF-IDF vectorization to convert raw text into numerical features and trains Multinomial Naive Bayes and Logistic Regression classifiers.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The trained model is deployed through a command-line interface and an interactive Streamlit web application for real-time classification.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The final model achieves high accuracy, precision, recall and F1-score on the held-out test set, demonstrating the practical viability of ML-based spam filters.</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Table of Contents</a:t>
            </a:r>
            <a:endParaRPr lang="en-US" sz="3000" dirty="0"/>
          </a:p>
        </p:txBody>
      </p:sp>
      <p:sp>
        <p:nvSpPr>
          <p:cNvPr id="4" name="Text 2"/>
          <p:cNvSpPr/>
          <p:nvPr/>
        </p:nvSpPr>
        <p:spPr>
          <a:xfrm>
            <a:off x="731520" y="1417320"/>
            <a:ext cx="5212080" cy="4937760"/>
          </a:xfrm>
          <a:prstGeom prst="rect">
            <a:avLst/>
          </a:prstGeom>
          <a:noFill/>
          <a:ln/>
        </p:spPr>
        <p:txBody>
          <a:bodyPr wrap="square" lIns="0" tIns="0" rIns="0" bIns="0" rtlCol="0" anchor="ctr"/>
          <a:lstStyle/>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 Objectives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 Company Overview</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3. Internship Overview</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4. Introduction</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5. Literature Review</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6. Problem Statement</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7. Proposed System</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8. System Requirements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9. Technology Stack</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10. System Architecture</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11. Methodology</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12. Dataset</a:t>
            </a:r>
            <a:endParaRPr lang="en-US" sz="1600" dirty="0"/>
          </a:p>
        </p:txBody>
      </p:sp>
      <p:sp>
        <p:nvSpPr>
          <p:cNvPr id="5" name="Text 3"/>
          <p:cNvSpPr/>
          <p:nvPr/>
        </p:nvSpPr>
        <p:spPr>
          <a:xfrm>
            <a:off x="6309360" y="1417320"/>
            <a:ext cx="5212080" cy="4937760"/>
          </a:xfrm>
          <a:prstGeom prst="rect">
            <a:avLst/>
          </a:prstGeom>
          <a:noFill/>
          <a:ln/>
        </p:spPr>
        <p:txBody>
          <a:bodyPr wrap="square" lIns="0" tIns="0" rIns="0" bIns="0" rtlCol="0" anchor="ctr"/>
          <a:lstStyle/>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13. Data Preprocessing</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14. Feature Extraction</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15. Model Training</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16. Model Evaluation</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17. Working Modules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18. Results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19. Weekly Task Timeline</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20. Challenges Faced</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21. Learning Outcomes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22. Future Enhancements</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23. Conclusion</a:t>
            </a:r>
            <a:endParaRPr lang="en-US" sz="1600" dirty="0"/>
          </a:p>
          <a:p>
            <a:pPr indent="0" marL="0">
              <a:spcAft>
                <a:spcPts val="1400"/>
              </a:spcAft>
              <a:buNone/>
            </a:pPr>
            <a:r>
              <a:rPr lang="en-US" sz="1600" dirty="0">
                <a:solidFill>
                  <a:srgbClr val="1B1B1F"/>
                </a:solidFill>
                <a:latin typeface="Calibri" pitchFamily="34" charset="0"/>
                <a:ea typeface="Calibri" pitchFamily="34" charset="-122"/>
                <a:cs typeface="Calibri" pitchFamily="34" charset="-120"/>
              </a:rPr>
              <a:t>24. References</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Objectives</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What this project set out to achieve</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Understand the fundamentals of Natural Language Processing (NLP) and text classification.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Design and build a complete machine learning pipeline: data preparation, preprocessing, feature extraction, training, and evaluation.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Compare multiple classification algorithms and select the best performer using standard evaluation metrics.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Build a working, interactive application that demonstrates the model classifying real messages in real time.</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Gain hands-on, industry-relevant experience in applying ML to a real-world cybersecurity/communication problem.</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Document the full development process for submission as an internship deliverable.</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Company Overview</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Alpha Innovations</a:t>
            </a:r>
            <a:endParaRPr lang="en-US" sz="1300" dirty="0"/>
          </a:p>
        </p:txBody>
      </p:sp>
      <p:sp>
        <p:nvSpPr>
          <p:cNvPr id="5" name="Shape 3"/>
          <p:cNvSpPr/>
          <p:nvPr/>
        </p:nvSpPr>
        <p:spPr>
          <a:xfrm>
            <a:off x="640080" y="1463040"/>
            <a:ext cx="5120640" cy="4480560"/>
          </a:xfrm>
          <a:prstGeom prst="rect">
            <a:avLst>
              <a:gd name="adj" fmla="val 1633"/>
            </a:avLst>
          </a:prstGeom>
          <a:solidFill>
            <a:srgbClr val="1E2761"/>
          </a:solidFill>
          <a:ln/>
        </p:spPr>
      </p:sp>
      <p:sp>
        <p:nvSpPr>
          <p:cNvPr id="6" name="Text 4"/>
          <p:cNvSpPr/>
          <p:nvPr/>
        </p:nvSpPr>
        <p:spPr>
          <a:xfrm>
            <a:off x="822960" y="2651760"/>
            <a:ext cx="4754880" cy="13716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ALPHA</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INNOVATIONS</a:t>
            </a:r>
            <a:endParaRPr lang="en-US" sz="3000" dirty="0"/>
          </a:p>
        </p:txBody>
      </p:sp>
      <p:sp>
        <p:nvSpPr>
          <p:cNvPr id="7" name="Text 5"/>
          <p:cNvSpPr/>
          <p:nvPr/>
        </p:nvSpPr>
        <p:spPr>
          <a:xfrm>
            <a:off x="822960" y="3977640"/>
            <a:ext cx="4754880" cy="457200"/>
          </a:xfrm>
          <a:prstGeom prst="rect">
            <a:avLst/>
          </a:prstGeom>
          <a:noFill/>
          <a:ln/>
        </p:spPr>
        <p:txBody>
          <a:bodyPr wrap="square" lIns="0" tIns="0" rIns="0" bIns="0" rtlCol="0" anchor="ctr"/>
          <a:lstStyle/>
          <a:p>
            <a:pPr algn="ctr" indent="0" marL="0">
              <a:buNone/>
            </a:pPr>
            <a:r>
              <a:rPr lang="en-US" sz="1300" i="1" dirty="0">
                <a:solidFill>
                  <a:srgbClr val="CADCFC"/>
                </a:solidFill>
                <a:latin typeface="Calibri" pitchFamily="34" charset="0"/>
                <a:ea typeface="Calibri" pitchFamily="34" charset="-122"/>
                <a:cs typeface="Calibri" pitchFamily="34" charset="-120"/>
              </a:rPr>
              <a:t>Empowering ideas through technology</a:t>
            </a:r>
            <a:endParaRPr lang="en-US" sz="1300" dirty="0"/>
          </a:p>
        </p:txBody>
      </p:sp>
      <p:sp>
        <p:nvSpPr>
          <p:cNvPr id="8" name="Text 6"/>
          <p:cNvSpPr/>
          <p:nvPr/>
        </p:nvSpPr>
        <p:spPr>
          <a:xfrm>
            <a:off x="6035040" y="1600200"/>
            <a:ext cx="5486400" cy="4206240"/>
          </a:xfrm>
          <a:prstGeom prst="rect">
            <a:avLst/>
          </a:prstGeom>
          <a:noFill/>
          <a:ln/>
        </p:spPr>
        <p:txBody>
          <a:bodyPr wrap="square" lIns="0" tIns="0" rIns="0" bIns="0" rtlCol="0" anchor="t"/>
          <a:lstStyle/>
          <a:p>
            <a:pPr indent="0" marL="0">
              <a:lnSpc>
                <a:spcPct val="120000"/>
              </a:lnSpc>
              <a:buNone/>
            </a:pPr>
            <a:r>
              <a:rPr lang="en-US" sz="1500" b="1" dirty="0">
                <a:solidFill>
                  <a:srgbClr val="1B1B1F"/>
                </a:solidFill>
                <a:latin typeface="Calibri" pitchFamily="34" charset="0"/>
                <a:ea typeface="Calibri" pitchFamily="34" charset="-122"/>
                <a:cs typeface="Calibri" pitchFamily="34" charset="-120"/>
              </a:rPr>
              <a:t>Industry: </a:t>
            </a:r>
            <a:pPr indent="0" marL="0">
              <a:lnSpc>
                <a:spcPct val="120000"/>
              </a:lnSpc>
              <a:spcAft>
                <a:spcPts val="1400"/>
              </a:spcAft>
              <a:buNone/>
            </a:pPr>
            <a:r>
              <a:rPr lang="en-US" sz="1500" dirty="0">
                <a:solidFill>
                  <a:srgbClr val="5B6472"/>
                </a:solidFill>
                <a:latin typeface="Calibri" pitchFamily="34" charset="0"/>
                <a:ea typeface="Calibri" pitchFamily="34" charset="-122"/>
                <a:cs typeface="Calibri" pitchFamily="34" charset="-120"/>
              </a:rPr>
              <a:t>Information Technology &amp; Software Solutions</a:t>
            </a:r>
            <a:endParaRPr lang="en-US" sz="1500" dirty="0"/>
          </a:p>
          <a:p>
            <a:pPr indent="0" marL="0">
              <a:lnSpc>
                <a:spcPct val="120000"/>
              </a:lnSpc>
              <a:buNone/>
            </a:pPr>
            <a:r>
              <a:rPr lang="en-US" sz="1500" b="1" dirty="0">
                <a:solidFill>
                  <a:srgbClr val="1B1B1F"/>
                </a:solidFill>
                <a:latin typeface="Calibri" pitchFamily="34" charset="0"/>
                <a:ea typeface="Calibri" pitchFamily="34" charset="-122"/>
                <a:cs typeface="Calibri" pitchFamily="34" charset="-120"/>
              </a:rPr>
              <a:t>Focus Areas: </a:t>
            </a:r>
            <a:pPr indent="0" marL="0">
              <a:lnSpc>
                <a:spcPct val="120000"/>
              </a:lnSpc>
              <a:spcAft>
                <a:spcPts val="1400"/>
              </a:spcAft>
              <a:buNone/>
            </a:pPr>
            <a:r>
              <a:rPr lang="en-US" sz="1500" dirty="0">
                <a:solidFill>
                  <a:srgbClr val="5B6472"/>
                </a:solidFill>
                <a:latin typeface="Calibri" pitchFamily="34" charset="0"/>
                <a:ea typeface="Calibri" pitchFamily="34" charset="-122"/>
                <a:cs typeface="Calibri" pitchFamily="34" charset="-120"/>
              </a:rPr>
              <a:t>Artificial Intelligence, Machine Learning, Web &amp; Software Development</a:t>
            </a:r>
            <a:endParaRPr lang="en-US" sz="1500" dirty="0"/>
          </a:p>
          <a:p>
            <a:pPr indent="0" marL="0">
              <a:lnSpc>
                <a:spcPct val="120000"/>
              </a:lnSpc>
              <a:buNone/>
            </a:pPr>
            <a:r>
              <a:rPr lang="en-US" sz="1500" b="1" dirty="0">
                <a:solidFill>
                  <a:srgbClr val="1B1B1F"/>
                </a:solidFill>
                <a:latin typeface="Calibri" pitchFamily="34" charset="0"/>
                <a:ea typeface="Calibri" pitchFamily="34" charset="-122"/>
                <a:cs typeface="Calibri" pitchFamily="34" charset="-120"/>
              </a:rPr>
              <a:t>Internship Domain: </a:t>
            </a:r>
            <a:pPr indent="0" marL="0">
              <a:lnSpc>
                <a:spcPct val="120000"/>
              </a:lnSpc>
              <a:spcAft>
                <a:spcPts val="1400"/>
              </a:spcAft>
              <a:buNone/>
            </a:pPr>
            <a:r>
              <a:rPr lang="en-US" sz="1500" dirty="0">
                <a:solidFill>
                  <a:srgbClr val="5B6472"/>
                </a:solidFill>
                <a:latin typeface="Calibri" pitchFamily="34" charset="0"/>
                <a:ea typeface="Calibri" pitchFamily="34" charset="-122"/>
                <a:cs typeface="Calibri" pitchFamily="34" charset="-120"/>
              </a:rPr>
              <a:t>Machine Learning / Data Science</a:t>
            </a:r>
            <a:endParaRPr lang="en-US" sz="1500" dirty="0"/>
          </a:p>
          <a:p>
            <a:pPr indent="0" marL="0">
              <a:lnSpc>
                <a:spcPct val="120000"/>
              </a:lnSpc>
              <a:buNone/>
            </a:pPr>
            <a:r>
              <a:rPr lang="en-US" sz="1500" b="1" dirty="0">
                <a:solidFill>
                  <a:srgbClr val="1B1B1F"/>
                </a:solidFill>
                <a:latin typeface="Calibri" pitchFamily="34" charset="0"/>
                <a:ea typeface="Calibri" pitchFamily="34" charset="-122"/>
                <a:cs typeface="Calibri" pitchFamily="34" charset="-120"/>
              </a:rPr>
              <a:t>Work Culture: </a:t>
            </a:r>
            <a:pPr indent="0" marL="0">
              <a:lnSpc>
                <a:spcPct val="120000"/>
              </a:lnSpc>
              <a:buNone/>
            </a:pPr>
            <a:r>
              <a:rPr lang="en-US" sz="1500" dirty="0">
                <a:solidFill>
                  <a:srgbClr val="5B6472"/>
                </a:solidFill>
                <a:latin typeface="Calibri" pitchFamily="34" charset="0"/>
                <a:ea typeface="Calibri" pitchFamily="34" charset="-122"/>
                <a:cs typeface="Calibri" pitchFamily="34" charset="-120"/>
              </a:rPr>
              <a:t>Collaborative, mentorship-driven, project-based learning for interns</a:t>
            </a:r>
            <a:endParaRPr lang="en-US" sz="1500" dirty="0"/>
          </a:p>
        </p:txBody>
      </p:sp>
      <p:sp>
        <p:nvSpPr>
          <p:cNvPr id="9" name="Text 7"/>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Internship Overview</a:t>
            </a:r>
            <a:endParaRPr lang="en-US" sz="3000" dirty="0"/>
          </a:p>
        </p:txBody>
      </p:sp>
      <p:sp>
        <p:nvSpPr>
          <p:cNvPr id="4" name="Shape 2"/>
          <p:cNvSpPr/>
          <p:nvPr/>
        </p:nvSpPr>
        <p:spPr>
          <a:xfrm>
            <a:off x="640080" y="1645920"/>
            <a:ext cx="2514600" cy="2103120"/>
          </a:xfrm>
          <a:prstGeom prst="roundRect">
            <a:avLst>
              <a:gd name="adj" fmla="val 4348"/>
            </a:avLst>
          </a:prstGeom>
          <a:solidFill>
            <a:srgbClr val="F4F7FD"/>
          </a:solidFill>
          <a:ln/>
        </p:spPr>
      </p:sp>
      <p:sp>
        <p:nvSpPr>
          <p:cNvPr id="5" name="Text 3"/>
          <p:cNvSpPr/>
          <p:nvPr/>
        </p:nvSpPr>
        <p:spPr>
          <a:xfrm>
            <a:off x="640080" y="1828800"/>
            <a:ext cx="25146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6" name="Text 4"/>
          <p:cNvSpPr/>
          <p:nvPr/>
        </p:nvSpPr>
        <p:spPr>
          <a:xfrm>
            <a:off x="640080" y="2514600"/>
            <a:ext cx="251460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M.V. Prasanth</a:t>
            </a:r>
            <a:endParaRPr lang="en-US" sz="1700" dirty="0"/>
          </a:p>
        </p:txBody>
      </p:sp>
      <p:sp>
        <p:nvSpPr>
          <p:cNvPr id="7" name="Text 5"/>
          <p:cNvSpPr/>
          <p:nvPr/>
        </p:nvSpPr>
        <p:spPr>
          <a:xfrm>
            <a:off x="640080" y="3063240"/>
            <a:ext cx="2514600" cy="3657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Intern Name</a:t>
            </a:r>
            <a:endParaRPr lang="en-US" sz="1200" dirty="0"/>
          </a:p>
        </p:txBody>
      </p:sp>
      <p:sp>
        <p:nvSpPr>
          <p:cNvPr id="8" name="Shape 6"/>
          <p:cNvSpPr/>
          <p:nvPr/>
        </p:nvSpPr>
        <p:spPr>
          <a:xfrm>
            <a:off x="3429000" y="1645920"/>
            <a:ext cx="2514600" cy="2103120"/>
          </a:xfrm>
          <a:prstGeom prst="roundRect">
            <a:avLst>
              <a:gd name="adj" fmla="val 4348"/>
            </a:avLst>
          </a:prstGeom>
          <a:solidFill>
            <a:srgbClr val="F4F7FD"/>
          </a:solidFill>
          <a:ln/>
        </p:spPr>
      </p:sp>
      <p:sp>
        <p:nvSpPr>
          <p:cNvPr id="9" name="Text 7"/>
          <p:cNvSpPr/>
          <p:nvPr/>
        </p:nvSpPr>
        <p:spPr>
          <a:xfrm>
            <a:off x="3429000" y="1828800"/>
            <a:ext cx="25146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0" name="Text 8"/>
          <p:cNvSpPr/>
          <p:nvPr/>
        </p:nvSpPr>
        <p:spPr>
          <a:xfrm>
            <a:off x="3429000" y="2514600"/>
            <a:ext cx="251460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Alpha Innovations</a:t>
            </a:r>
            <a:endParaRPr lang="en-US" sz="1700" dirty="0"/>
          </a:p>
        </p:txBody>
      </p:sp>
      <p:sp>
        <p:nvSpPr>
          <p:cNvPr id="11" name="Text 9"/>
          <p:cNvSpPr/>
          <p:nvPr/>
        </p:nvSpPr>
        <p:spPr>
          <a:xfrm>
            <a:off x="3429000" y="3063240"/>
            <a:ext cx="2514600" cy="3657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Organization</a:t>
            </a:r>
            <a:endParaRPr lang="en-US" sz="1200" dirty="0"/>
          </a:p>
        </p:txBody>
      </p:sp>
      <p:sp>
        <p:nvSpPr>
          <p:cNvPr id="12" name="Shape 10"/>
          <p:cNvSpPr/>
          <p:nvPr/>
        </p:nvSpPr>
        <p:spPr>
          <a:xfrm>
            <a:off x="6217920" y="1645920"/>
            <a:ext cx="2514600" cy="2103120"/>
          </a:xfrm>
          <a:prstGeom prst="roundRect">
            <a:avLst>
              <a:gd name="adj" fmla="val 4348"/>
            </a:avLst>
          </a:prstGeom>
          <a:solidFill>
            <a:srgbClr val="F4F7FD"/>
          </a:solidFill>
          <a:ln/>
        </p:spPr>
      </p:sp>
      <p:sp>
        <p:nvSpPr>
          <p:cNvPr id="13" name="Text 11"/>
          <p:cNvSpPr/>
          <p:nvPr/>
        </p:nvSpPr>
        <p:spPr>
          <a:xfrm>
            <a:off x="6217920" y="1828800"/>
            <a:ext cx="25146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4" name="Text 12"/>
          <p:cNvSpPr/>
          <p:nvPr/>
        </p:nvSpPr>
        <p:spPr>
          <a:xfrm>
            <a:off x="6217920" y="2514600"/>
            <a:ext cx="251460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2 Months</a:t>
            </a:r>
            <a:endParaRPr lang="en-US" sz="1700" dirty="0"/>
          </a:p>
        </p:txBody>
      </p:sp>
      <p:sp>
        <p:nvSpPr>
          <p:cNvPr id="15" name="Text 13"/>
          <p:cNvSpPr/>
          <p:nvPr/>
        </p:nvSpPr>
        <p:spPr>
          <a:xfrm>
            <a:off x="6217920" y="3063240"/>
            <a:ext cx="2514600" cy="3657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Duration</a:t>
            </a:r>
            <a:endParaRPr lang="en-US" sz="1200" dirty="0"/>
          </a:p>
        </p:txBody>
      </p:sp>
      <p:sp>
        <p:nvSpPr>
          <p:cNvPr id="16" name="Shape 14"/>
          <p:cNvSpPr/>
          <p:nvPr/>
        </p:nvSpPr>
        <p:spPr>
          <a:xfrm>
            <a:off x="9006840" y="1645920"/>
            <a:ext cx="2514600" cy="2103120"/>
          </a:xfrm>
          <a:prstGeom prst="roundRect">
            <a:avLst>
              <a:gd name="adj" fmla="val 4348"/>
            </a:avLst>
          </a:prstGeom>
          <a:solidFill>
            <a:srgbClr val="F4F7FD"/>
          </a:solidFill>
          <a:ln/>
        </p:spPr>
      </p:sp>
      <p:sp>
        <p:nvSpPr>
          <p:cNvPr id="17" name="Text 15"/>
          <p:cNvSpPr/>
          <p:nvPr/>
        </p:nvSpPr>
        <p:spPr>
          <a:xfrm>
            <a:off x="9006840" y="1828800"/>
            <a:ext cx="2514600" cy="64008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8" name="Text 16"/>
          <p:cNvSpPr/>
          <p:nvPr/>
        </p:nvSpPr>
        <p:spPr>
          <a:xfrm>
            <a:off x="9006840" y="2514600"/>
            <a:ext cx="2514600" cy="54864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Machine Learning</a:t>
            </a:r>
            <a:endParaRPr lang="en-US" sz="1700" dirty="0"/>
          </a:p>
        </p:txBody>
      </p:sp>
      <p:sp>
        <p:nvSpPr>
          <p:cNvPr id="19" name="Text 17"/>
          <p:cNvSpPr/>
          <p:nvPr/>
        </p:nvSpPr>
        <p:spPr>
          <a:xfrm>
            <a:off x="9006840" y="3063240"/>
            <a:ext cx="2514600" cy="365760"/>
          </a:xfrm>
          <a:prstGeom prst="rect">
            <a:avLst/>
          </a:prstGeom>
          <a:noFill/>
          <a:ln/>
        </p:spPr>
        <p:txBody>
          <a:bodyPr wrap="square" lIns="0" tIns="0" rIns="0" bIns="0"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Domain</a:t>
            </a:r>
            <a:endParaRPr lang="en-US" sz="1200" dirty="0"/>
          </a:p>
        </p:txBody>
      </p:sp>
      <p:sp>
        <p:nvSpPr>
          <p:cNvPr id="20" name="Text 18"/>
          <p:cNvSpPr/>
          <p:nvPr/>
        </p:nvSpPr>
        <p:spPr>
          <a:xfrm>
            <a:off x="640080" y="4114800"/>
            <a:ext cx="10881360" cy="1737360"/>
          </a:xfrm>
          <a:prstGeom prst="rect">
            <a:avLst/>
          </a:prstGeom>
          <a:noFill/>
          <a:ln/>
        </p:spPr>
        <p:txBody>
          <a:bodyPr wrap="square" lIns="0" tIns="0" rIns="0" bIns="0" rtlCol="0" anchor="ctr"/>
          <a:lstStyle/>
          <a:p>
            <a:pPr indent="0" marL="0">
              <a:lnSpc>
                <a:spcPct val="130000"/>
              </a:lnSpc>
              <a:buNone/>
            </a:pPr>
            <a:r>
              <a:rPr lang="en-US" sz="1500" dirty="0">
                <a:solidFill>
                  <a:srgbClr val="1B1B1F"/>
                </a:solidFill>
                <a:latin typeface="Calibri" pitchFamily="34" charset="0"/>
                <a:ea typeface="Calibri" pitchFamily="34" charset="-122"/>
                <a:cs typeface="Calibri" pitchFamily="34" charset="-120"/>
              </a:rPr>
              <a:t>During this internship, I worked within the Machine Learning team at Alpha Innovations, focusing on applied Natural Language Processing. The primary deliverable was a complete, working Spam Email Classifier — covering data handling, model development, evaluation, and deployment as an interactive application — along with this report documenting the process, methodology, and outcomes.</a:t>
            </a:r>
            <a:endParaRPr lang="en-US" sz="1500" dirty="0"/>
          </a:p>
        </p:txBody>
      </p:sp>
      <p:sp>
        <p:nvSpPr>
          <p:cNvPr id="21" name="Text 1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Introduction</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Why spam classification matters</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Email remains one of the most widely used communication channels, but a large fraction of daily email traffic is unsolicited spam.</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Spam messages range from harmless advertising to dangerous phishing attempts that steal credentials or financial information.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Manually filtering spam is impractical at scale — automated, intelligent filtering is required.</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Machine Learning enables systems to learn the underlying patterns of spam language (urgency, prizes, links, requests for personal data) directly from data.</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This project explores how text classification techniques can be applied to build a reliable, automated spam filter.</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Literature Review</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Existing approaches to spam detection</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Rule-based filters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Early spam filters relied on manually written keyword rules and blacklists — brittle and easy to bypass.</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Naive Bayes classifiers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One of the earliest and most successful ML approaches for spam, based on word-frequency probabilities.</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Support Vector Machines (SVM)</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Effective for high-dimensional sparse text data, often used in academic spam-detection research.</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Deep Learning (RNN/LSTM, Transformers)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Modern approaches use contextual embeddings for higher accuracy, at the cost of complexity and compute.</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This project</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Builds on the classical, well-understood Naive Bayes / Logistic Regression + TF-IDF approach — lightweight, interpretable, and fast to train.</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640080" y="1554480"/>
            <a:ext cx="10881360" cy="1920240"/>
          </a:xfrm>
          <a:prstGeom prst="roundRect">
            <a:avLst>
              <a:gd name="adj" fmla="val 3810"/>
            </a:avLst>
          </a:prstGeom>
          <a:solidFill>
            <a:srgbClr val="F4F7FD"/>
          </a:solidFill>
          <a:ln/>
        </p:spPr>
      </p:sp>
      <p:sp>
        <p:nvSpPr>
          <p:cNvPr id="5" name="Text 3"/>
          <p:cNvSpPr/>
          <p:nvPr/>
        </p:nvSpPr>
        <p:spPr>
          <a:xfrm>
            <a:off x="914400" y="1783080"/>
            <a:ext cx="10332720" cy="1554480"/>
          </a:xfrm>
          <a:prstGeom prst="rect">
            <a:avLst/>
          </a:prstGeom>
          <a:noFill/>
          <a:ln/>
        </p:spPr>
        <p:txBody>
          <a:bodyPr wrap="square" lIns="0" tIns="0" rIns="0" bIns="0" rtlCol="0" anchor="ctr"/>
          <a:lstStyle/>
          <a:p>
            <a:pPr indent="0" marL="0">
              <a:buNone/>
            </a:pPr>
            <a:r>
              <a:rPr lang="en-US" sz="1800" i="1" dirty="0">
                <a:solidFill>
                  <a:srgbClr val="1E2761"/>
                </a:solidFill>
                <a:latin typeface="Calibri" pitchFamily="34" charset="0"/>
                <a:ea typeface="Calibri" pitchFamily="34" charset="-122"/>
                <a:cs typeface="Calibri" pitchFamily="34" charset="-120"/>
              </a:rPr>
              <a:t>Given the free-form text of an email or SMS message, automatically and accurately determine whether the message is spam (unsolicited/malicious) or ham (legitimate), without relying on manually maintained keyword lists, so the system generalizes to new and previously unseen spam patterns.</a:t>
            </a:r>
            <a:endParaRPr lang="en-US" sz="1800" dirty="0"/>
          </a:p>
        </p:txBody>
      </p:sp>
      <p:sp>
        <p:nvSpPr>
          <p:cNvPr id="6" name="Shape 4"/>
          <p:cNvSpPr/>
          <p:nvPr/>
        </p:nvSpPr>
        <p:spPr>
          <a:xfrm>
            <a:off x="822960" y="3931920"/>
            <a:ext cx="457200" cy="457200"/>
          </a:xfrm>
          <a:prstGeom prst="ellipse">
            <a:avLst/>
          </a:prstGeom>
          <a:solidFill>
            <a:srgbClr val="3B82F6"/>
          </a:solidFill>
          <a:ln/>
        </p:spPr>
      </p:sp>
      <p:sp>
        <p:nvSpPr>
          <p:cNvPr id="7" name="Text 5"/>
          <p:cNvSpPr/>
          <p:nvPr/>
        </p:nvSpPr>
        <p:spPr>
          <a:xfrm>
            <a:off x="822960" y="393192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rPr>
              <a:t>✓</a:t>
            </a:r>
            <a:endParaRPr lang="en-US" sz="1300" dirty="0"/>
          </a:p>
        </p:txBody>
      </p:sp>
      <p:sp>
        <p:nvSpPr>
          <p:cNvPr id="8" name="Text 6"/>
          <p:cNvSpPr/>
          <p:nvPr/>
        </p:nvSpPr>
        <p:spPr>
          <a:xfrm>
            <a:off x="1417320" y="3931920"/>
            <a:ext cx="3017520" cy="1280160"/>
          </a:xfrm>
          <a:prstGeom prst="rect">
            <a:avLst/>
          </a:prstGeom>
          <a:noFill/>
          <a:ln/>
        </p:spPr>
        <p:txBody>
          <a:bodyPr wrap="square" lIns="0" tIns="0" rIns="0" bIns="0" rtlCol="0" anchor="t"/>
          <a:lstStyle/>
          <a:p>
            <a:pPr indent="0" marL="0">
              <a:buNone/>
            </a:pPr>
            <a:r>
              <a:rPr lang="en-US" sz="1400" dirty="0">
                <a:solidFill>
                  <a:srgbClr val="1B1B1F"/>
                </a:solidFill>
                <a:latin typeface="Calibri" pitchFamily="34" charset="0"/>
                <a:ea typeface="Calibri" pitchFamily="34" charset="-122"/>
                <a:cs typeface="Calibri" pitchFamily="34" charset="-120"/>
              </a:rPr>
              <a:t>High classification accuracy on unseen messages</a:t>
            </a:r>
            <a:endParaRPr lang="en-US" sz="1400" dirty="0"/>
          </a:p>
        </p:txBody>
      </p:sp>
      <p:sp>
        <p:nvSpPr>
          <p:cNvPr id="9" name="Shape 7"/>
          <p:cNvSpPr/>
          <p:nvPr/>
        </p:nvSpPr>
        <p:spPr>
          <a:xfrm>
            <a:off x="4480560" y="3931920"/>
            <a:ext cx="457200" cy="457200"/>
          </a:xfrm>
          <a:prstGeom prst="ellipse">
            <a:avLst/>
          </a:prstGeom>
          <a:solidFill>
            <a:srgbClr val="3B82F6"/>
          </a:solidFill>
          <a:ln/>
        </p:spPr>
      </p:sp>
      <p:sp>
        <p:nvSpPr>
          <p:cNvPr id="10" name="Text 8"/>
          <p:cNvSpPr/>
          <p:nvPr/>
        </p:nvSpPr>
        <p:spPr>
          <a:xfrm>
            <a:off x="4480560" y="393192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rPr>
              <a:t>✓</a:t>
            </a:r>
            <a:endParaRPr lang="en-US" sz="1300" dirty="0"/>
          </a:p>
        </p:txBody>
      </p:sp>
      <p:sp>
        <p:nvSpPr>
          <p:cNvPr id="11" name="Text 9"/>
          <p:cNvSpPr/>
          <p:nvPr/>
        </p:nvSpPr>
        <p:spPr>
          <a:xfrm>
            <a:off x="5074920" y="3931920"/>
            <a:ext cx="3017520" cy="1280160"/>
          </a:xfrm>
          <a:prstGeom prst="rect">
            <a:avLst/>
          </a:prstGeom>
          <a:noFill/>
          <a:ln/>
        </p:spPr>
        <p:txBody>
          <a:bodyPr wrap="square" lIns="0" tIns="0" rIns="0" bIns="0" rtlCol="0" anchor="t"/>
          <a:lstStyle/>
          <a:p>
            <a:pPr indent="0" marL="0">
              <a:buNone/>
            </a:pPr>
            <a:r>
              <a:rPr lang="en-US" sz="1400" dirty="0">
                <a:solidFill>
                  <a:srgbClr val="1B1B1F"/>
                </a:solidFill>
                <a:latin typeface="Calibri" pitchFamily="34" charset="0"/>
                <a:ea typeface="Calibri" pitchFamily="34" charset="-122"/>
                <a:cs typeface="Calibri" pitchFamily="34" charset="-120"/>
              </a:rPr>
              <a:t>Low false-positive rate (legitimate mail should rarely be marked spam)</a:t>
            </a:r>
            <a:endParaRPr lang="en-US" sz="1400" dirty="0"/>
          </a:p>
        </p:txBody>
      </p:sp>
      <p:sp>
        <p:nvSpPr>
          <p:cNvPr id="12" name="Shape 10"/>
          <p:cNvSpPr/>
          <p:nvPr/>
        </p:nvSpPr>
        <p:spPr>
          <a:xfrm>
            <a:off x="8138160" y="3931920"/>
            <a:ext cx="457200" cy="457200"/>
          </a:xfrm>
          <a:prstGeom prst="ellipse">
            <a:avLst/>
          </a:prstGeom>
          <a:solidFill>
            <a:srgbClr val="3B82F6"/>
          </a:solidFill>
          <a:ln/>
        </p:spPr>
      </p:sp>
      <p:sp>
        <p:nvSpPr>
          <p:cNvPr id="13" name="Text 11"/>
          <p:cNvSpPr/>
          <p:nvPr/>
        </p:nvSpPr>
        <p:spPr>
          <a:xfrm>
            <a:off x="8138160" y="3931920"/>
            <a:ext cx="457200" cy="457200"/>
          </a:xfrm>
          <a:prstGeom prst="rect">
            <a:avLst/>
          </a:prstGeom>
          <a:noFill/>
          <a:ln/>
        </p:spPr>
        <p:txBody>
          <a:bodyPr wrap="square" lIns="0" tIns="0" rIns="0" bIns="0" rtlCol="0" anchor="ctr"/>
          <a:lstStyle/>
          <a:p>
            <a:pPr algn="ctr" indent="0" marL="0">
              <a:buNone/>
            </a:pPr>
            <a:r>
              <a:rPr lang="en-US" sz="1300" dirty="0">
                <a:solidFill>
                  <a:srgbClr val="FFFFFF"/>
                </a:solidFill>
              </a:rPr>
              <a:t>✓</a:t>
            </a:r>
            <a:endParaRPr lang="en-US" sz="1300" dirty="0"/>
          </a:p>
        </p:txBody>
      </p:sp>
      <p:sp>
        <p:nvSpPr>
          <p:cNvPr id="14" name="Text 12"/>
          <p:cNvSpPr/>
          <p:nvPr/>
        </p:nvSpPr>
        <p:spPr>
          <a:xfrm>
            <a:off x="8732520" y="3931920"/>
            <a:ext cx="3017520" cy="1280160"/>
          </a:xfrm>
          <a:prstGeom prst="rect">
            <a:avLst/>
          </a:prstGeom>
          <a:noFill/>
          <a:ln/>
        </p:spPr>
        <p:txBody>
          <a:bodyPr wrap="square" lIns="0" tIns="0" rIns="0" bIns="0" rtlCol="0" anchor="t"/>
          <a:lstStyle/>
          <a:p>
            <a:pPr indent="0" marL="0">
              <a:buNone/>
            </a:pPr>
            <a:r>
              <a:rPr lang="en-US" sz="1400" dirty="0">
                <a:solidFill>
                  <a:srgbClr val="1B1B1F"/>
                </a:solidFill>
                <a:latin typeface="Calibri" pitchFamily="34" charset="0"/>
                <a:ea typeface="Calibri" pitchFamily="34" charset="-122"/>
                <a:cs typeface="Calibri" pitchFamily="34" charset="-120"/>
              </a:rPr>
              <a:t>Fast enough for real-time / near real-time use</a:t>
            </a:r>
            <a:endParaRPr lang="en-US" sz="1400" dirty="0"/>
          </a:p>
        </p:txBody>
      </p:sp>
      <p:sp>
        <p:nvSpPr>
          <p:cNvPr id="15" name="Text 1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Proposed System</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High-level solution approach</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Collect a labeled dataset of spam and ham email/SMS messages.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Clean and normalize the raw text (lowercasing, URL/number normalization, punctuation removal).</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Convert text into numeric feature vectors using TF-IDF (unigrams + bigrams).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Train and compare two classical ML classifiers: Multinomial Naive Bayes and Logistic Regression.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Select the best model using accuracy, precision, recall and F1-score, then persist it for reuse.</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Expose the trained model through a CLI tool and a Streamlit web app for real-time predictions.</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Requirements</a:t>
            </a:r>
            <a:endParaRPr lang="en-US" sz="3000" dirty="0"/>
          </a:p>
        </p:txBody>
      </p:sp>
      <p:sp>
        <p:nvSpPr>
          <p:cNvPr id="4" name="Shape 2"/>
          <p:cNvSpPr/>
          <p:nvPr/>
        </p:nvSpPr>
        <p:spPr>
          <a:xfrm>
            <a:off x="640080" y="1554480"/>
            <a:ext cx="5212080" cy="4297680"/>
          </a:xfrm>
          <a:prstGeom prst="roundRect">
            <a:avLst>
              <a:gd name="adj" fmla="val 1702"/>
            </a:avLst>
          </a:prstGeom>
          <a:solidFill>
            <a:srgbClr val="F4F7FD"/>
          </a:solidFill>
          <a:ln/>
        </p:spPr>
      </p:sp>
      <p:sp>
        <p:nvSpPr>
          <p:cNvPr id="5" name="Text 3"/>
          <p:cNvSpPr/>
          <p:nvPr/>
        </p:nvSpPr>
        <p:spPr>
          <a:xfrm>
            <a:off x="914400" y="1737360"/>
            <a:ext cx="46634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Hardware Requirements</a:t>
            </a:r>
            <a:endParaRPr lang="en-US" sz="1800" dirty="0"/>
          </a:p>
        </p:txBody>
      </p:sp>
      <p:sp>
        <p:nvSpPr>
          <p:cNvPr id="6" name="Text 4"/>
          <p:cNvSpPr/>
          <p:nvPr/>
        </p:nvSpPr>
        <p:spPr>
          <a:xfrm>
            <a:off x="914400" y="2194560"/>
            <a:ext cx="4663440" cy="34747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Processor: Intel i3 / equivalent or higher</a:t>
            </a:r>
            <a:endParaRPr lang="en-US" sz="1400" dirty="0"/>
          </a:p>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RAM: 4 GB minimum (8 GB recommended)</a:t>
            </a:r>
            <a:endParaRPr lang="en-US" sz="1400" dirty="0"/>
          </a:p>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Storage: 500 MB free disk space</a:t>
            </a:r>
            <a:endParaRPr lang="en-US" sz="1400" dirty="0"/>
          </a:p>
          <a:p>
            <a:pPr marL="342900" indent="-342900">
              <a:buSzPct val="100000"/>
              <a:buChar char="•"/>
            </a:pPr>
            <a:r>
              <a:rPr lang="en-US" sz="1400" dirty="0">
                <a:solidFill>
                  <a:srgbClr val="1B1B1F"/>
                </a:solidFill>
                <a:latin typeface="Calibri" pitchFamily="34" charset="0"/>
                <a:ea typeface="Calibri" pitchFamily="34" charset="-122"/>
                <a:cs typeface="Calibri" pitchFamily="34" charset="-120"/>
              </a:rPr>
              <a:t>Internet connection (for setup/library installation)</a:t>
            </a:r>
            <a:endParaRPr lang="en-US" sz="1400" dirty="0"/>
          </a:p>
        </p:txBody>
      </p:sp>
      <p:sp>
        <p:nvSpPr>
          <p:cNvPr id="7" name="Shape 5"/>
          <p:cNvSpPr/>
          <p:nvPr/>
        </p:nvSpPr>
        <p:spPr>
          <a:xfrm>
            <a:off x="6309360" y="1554480"/>
            <a:ext cx="5212080" cy="4297680"/>
          </a:xfrm>
          <a:prstGeom prst="roundRect">
            <a:avLst>
              <a:gd name="adj" fmla="val 1702"/>
            </a:avLst>
          </a:prstGeom>
          <a:solidFill>
            <a:srgbClr val="F4F7FD"/>
          </a:solidFill>
          <a:ln/>
        </p:spPr>
      </p:sp>
      <p:sp>
        <p:nvSpPr>
          <p:cNvPr id="8" name="Text 6"/>
          <p:cNvSpPr/>
          <p:nvPr/>
        </p:nvSpPr>
        <p:spPr>
          <a:xfrm>
            <a:off x="6583680" y="1737360"/>
            <a:ext cx="466344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Software Requirements</a:t>
            </a:r>
            <a:endParaRPr lang="en-US" sz="1800" dirty="0"/>
          </a:p>
        </p:txBody>
      </p:sp>
      <p:sp>
        <p:nvSpPr>
          <p:cNvPr id="9" name="Text 7"/>
          <p:cNvSpPr/>
          <p:nvPr/>
        </p:nvSpPr>
        <p:spPr>
          <a:xfrm>
            <a:off x="6583680" y="2194560"/>
            <a:ext cx="4663440" cy="34747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Operating System: Windows / Linux / macOS</a:t>
            </a:r>
            <a:endParaRPr lang="en-US" sz="1400" dirty="0"/>
          </a:p>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Python 3.9 or above</a:t>
            </a:r>
            <a:endParaRPr lang="en-US" sz="1400" dirty="0"/>
          </a:p>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Libraries: scikit-learn, pandas, joblib, Streamlit</a:t>
            </a:r>
            <a:endParaRPr lang="en-US" sz="1400" dirty="0"/>
          </a:p>
          <a:p>
            <a:pPr marL="342900" indent="-342900">
              <a:spcAft>
                <a:spcPts val="1000"/>
              </a:spcAft>
              <a:buSzPct val="100000"/>
              <a:buChar char="•"/>
            </a:pPr>
            <a:r>
              <a:rPr lang="en-US" sz="1400" dirty="0">
                <a:solidFill>
                  <a:srgbClr val="1B1B1F"/>
                </a:solidFill>
                <a:latin typeface="Calibri" pitchFamily="34" charset="0"/>
                <a:ea typeface="Calibri" pitchFamily="34" charset="-122"/>
                <a:cs typeface="Calibri" pitchFamily="34" charset="-120"/>
              </a:rPr>
              <a:t>Code editor: VS Code / PyCharm / Jupyter Notebook</a:t>
            </a:r>
            <a:endParaRPr lang="en-US" sz="1400" dirty="0"/>
          </a:p>
          <a:p>
            <a:pPr marL="342900" indent="-342900">
              <a:buSzPct val="100000"/>
              <a:buChar char="•"/>
            </a:pPr>
            <a:r>
              <a:rPr lang="en-US" sz="1400" dirty="0">
                <a:solidFill>
                  <a:srgbClr val="1B1B1F"/>
                </a:solidFill>
                <a:latin typeface="Calibri" pitchFamily="34" charset="0"/>
                <a:ea typeface="Calibri" pitchFamily="34" charset="-122"/>
                <a:cs typeface="Calibri" pitchFamily="34" charset="-120"/>
              </a:rPr>
              <a:t>Version control: Git &amp; GitHub</a:t>
            </a:r>
            <a:endParaRPr lang="en-US" sz="1400" dirty="0"/>
          </a:p>
        </p:txBody>
      </p:sp>
      <p:sp>
        <p:nvSpPr>
          <p:cNvPr id="10" name="Text 8"/>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640080" y="1554480"/>
            <a:ext cx="3429000" cy="1920240"/>
          </a:xfrm>
          <a:prstGeom prst="roundRect">
            <a:avLst>
              <a:gd name="adj" fmla="val 3810"/>
            </a:avLst>
          </a:prstGeom>
          <a:solidFill>
            <a:srgbClr val="F4F7FD"/>
          </a:solidFill>
          <a:ln/>
        </p:spPr>
      </p:sp>
      <p:sp>
        <p:nvSpPr>
          <p:cNvPr id="5" name="Text 3"/>
          <p:cNvSpPr/>
          <p:nvPr/>
        </p:nvSpPr>
        <p:spPr>
          <a:xfrm>
            <a:off x="822960" y="173736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6" name="Text 4"/>
          <p:cNvSpPr/>
          <p:nvPr/>
        </p:nvSpPr>
        <p:spPr>
          <a:xfrm>
            <a:off x="822960" y="251460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Python 3</a:t>
            </a:r>
            <a:endParaRPr lang="en-US" sz="1600" dirty="0"/>
          </a:p>
        </p:txBody>
      </p:sp>
      <p:sp>
        <p:nvSpPr>
          <p:cNvPr id="7" name="Text 5"/>
          <p:cNvSpPr/>
          <p:nvPr/>
        </p:nvSpPr>
        <p:spPr>
          <a:xfrm>
            <a:off x="822960" y="288036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Core programming language</a:t>
            </a:r>
            <a:endParaRPr lang="en-US" sz="1200" dirty="0"/>
          </a:p>
        </p:txBody>
      </p:sp>
      <p:sp>
        <p:nvSpPr>
          <p:cNvPr id="8" name="Shape 6"/>
          <p:cNvSpPr/>
          <p:nvPr/>
        </p:nvSpPr>
        <p:spPr>
          <a:xfrm>
            <a:off x="4297680" y="1554480"/>
            <a:ext cx="3429000" cy="1920240"/>
          </a:xfrm>
          <a:prstGeom prst="roundRect">
            <a:avLst>
              <a:gd name="adj" fmla="val 3810"/>
            </a:avLst>
          </a:prstGeom>
          <a:solidFill>
            <a:srgbClr val="F4F7FD"/>
          </a:solidFill>
          <a:ln/>
        </p:spPr>
      </p:sp>
      <p:sp>
        <p:nvSpPr>
          <p:cNvPr id="9" name="Text 7"/>
          <p:cNvSpPr/>
          <p:nvPr/>
        </p:nvSpPr>
        <p:spPr>
          <a:xfrm>
            <a:off x="4480560" y="173736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10" name="Text 8"/>
          <p:cNvSpPr/>
          <p:nvPr/>
        </p:nvSpPr>
        <p:spPr>
          <a:xfrm>
            <a:off x="4480560" y="251460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pandas</a:t>
            </a:r>
            <a:endParaRPr lang="en-US" sz="1600" dirty="0"/>
          </a:p>
        </p:txBody>
      </p:sp>
      <p:sp>
        <p:nvSpPr>
          <p:cNvPr id="11" name="Text 9"/>
          <p:cNvSpPr/>
          <p:nvPr/>
        </p:nvSpPr>
        <p:spPr>
          <a:xfrm>
            <a:off x="4480560" y="288036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Data loading &amp; manipulation</a:t>
            </a:r>
            <a:endParaRPr lang="en-US" sz="1200" dirty="0"/>
          </a:p>
        </p:txBody>
      </p:sp>
      <p:sp>
        <p:nvSpPr>
          <p:cNvPr id="12" name="Shape 10"/>
          <p:cNvSpPr/>
          <p:nvPr/>
        </p:nvSpPr>
        <p:spPr>
          <a:xfrm>
            <a:off x="7955280" y="1554480"/>
            <a:ext cx="3429000" cy="1920240"/>
          </a:xfrm>
          <a:prstGeom prst="roundRect">
            <a:avLst>
              <a:gd name="adj" fmla="val 3810"/>
            </a:avLst>
          </a:prstGeom>
          <a:solidFill>
            <a:srgbClr val="F4F7FD"/>
          </a:solidFill>
          <a:ln/>
        </p:spPr>
      </p:sp>
      <p:sp>
        <p:nvSpPr>
          <p:cNvPr id="13" name="Text 11"/>
          <p:cNvSpPr/>
          <p:nvPr/>
        </p:nvSpPr>
        <p:spPr>
          <a:xfrm>
            <a:off x="8138160" y="173736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14" name="Text 12"/>
          <p:cNvSpPr/>
          <p:nvPr/>
        </p:nvSpPr>
        <p:spPr>
          <a:xfrm>
            <a:off x="8138160" y="251460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scikit-learn</a:t>
            </a:r>
            <a:endParaRPr lang="en-US" sz="1600" dirty="0"/>
          </a:p>
        </p:txBody>
      </p:sp>
      <p:sp>
        <p:nvSpPr>
          <p:cNvPr id="15" name="Text 13"/>
          <p:cNvSpPr/>
          <p:nvPr/>
        </p:nvSpPr>
        <p:spPr>
          <a:xfrm>
            <a:off x="8138160" y="288036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TF-IDF, ML models, metrics</a:t>
            </a:r>
            <a:endParaRPr lang="en-US" sz="1200" dirty="0"/>
          </a:p>
        </p:txBody>
      </p:sp>
      <p:sp>
        <p:nvSpPr>
          <p:cNvPr id="16" name="Shape 14"/>
          <p:cNvSpPr/>
          <p:nvPr/>
        </p:nvSpPr>
        <p:spPr>
          <a:xfrm>
            <a:off x="640080" y="3749040"/>
            <a:ext cx="3429000" cy="1920240"/>
          </a:xfrm>
          <a:prstGeom prst="roundRect">
            <a:avLst>
              <a:gd name="adj" fmla="val 3810"/>
            </a:avLst>
          </a:prstGeom>
          <a:solidFill>
            <a:srgbClr val="F4F7FD"/>
          </a:solidFill>
          <a:ln/>
        </p:spPr>
      </p:sp>
      <p:sp>
        <p:nvSpPr>
          <p:cNvPr id="17" name="Text 15"/>
          <p:cNvSpPr/>
          <p:nvPr/>
        </p:nvSpPr>
        <p:spPr>
          <a:xfrm>
            <a:off x="822960" y="393192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18" name="Text 16"/>
          <p:cNvSpPr/>
          <p:nvPr/>
        </p:nvSpPr>
        <p:spPr>
          <a:xfrm>
            <a:off x="822960" y="470916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joblib</a:t>
            </a:r>
            <a:endParaRPr lang="en-US" sz="1600" dirty="0"/>
          </a:p>
        </p:txBody>
      </p:sp>
      <p:sp>
        <p:nvSpPr>
          <p:cNvPr id="19" name="Text 17"/>
          <p:cNvSpPr/>
          <p:nvPr/>
        </p:nvSpPr>
        <p:spPr>
          <a:xfrm>
            <a:off x="822960" y="507492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Model persistence</a:t>
            </a:r>
            <a:endParaRPr lang="en-US" sz="1200" dirty="0"/>
          </a:p>
        </p:txBody>
      </p:sp>
      <p:sp>
        <p:nvSpPr>
          <p:cNvPr id="20" name="Shape 18"/>
          <p:cNvSpPr/>
          <p:nvPr/>
        </p:nvSpPr>
        <p:spPr>
          <a:xfrm>
            <a:off x="4297680" y="3749040"/>
            <a:ext cx="3429000" cy="1920240"/>
          </a:xfrm>
          <a:prstGeom prst="roundRect">
            <a:avLst>
              <a:gd name="adj" fmla="val 3810"/>
            </a:avLst>
          </a:prstGeom>
          <a:solidFill>
            <a:srgbClr val="F4F7FD"/>
          </a:solidFill>
          <a:ln/>
        </p:spPr>
      </p:sp>
      <p:sp>
        <p:nvSpPr>
          <p:cNvPr id="21" name="Text 19"/>
          <p:cNvSpPr/>
          <p:nvPr/>
        </p:nvSpPr>
        <p:spPr>
          <a:xfrm>
            <a:off x="4480560" y="393192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22" name="Text 20"/>
          <p:cNvSpPr/>
          <p:nvPr/>
        </p:nvSpPr>
        <p:spPr>
          <a:xfrm>
            <a:off x="4480560" y="470916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Streamlit</a:t>
            </a:r>
            <a:endParaRPr lang="en-US" sz="1600" dirty="0"/>
          </a:p>
        </p:txBody>
      </p:sp>
      <p:sp>
        <p:nvSpPr>
          <p:cNvPr id="23" name="Text 21"/>
          <p:cNvSpPr/>
          <p:nvPr/>
        </p:nvSpPr>
        <p:spPr>
          <a:xfrm>
            <a:off x="4480560" y="507492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Interactive web application</a:t>
            </a:r>
            <a:endParaRPr lang="en-US" sz="1200" dirty="0"/>
          </a:p>
        </p:txBody>
      </p:sp>
      <p:sp>
        <p:nvSpPr>
          <p:cNvPr id="24" name="Shape 22"/>
          <p:cNvSpPr/>
          <p:nvPr/>
        </p:nvSpPr>
        <p:spPr>
          <a:xfrm>
            <a:off x="7955280" y="3749040"/>
            <a:ext cx="3429000" cy="1920240"/>
          </a:xfrm>
          <a:prstGeom prst="roundRect">
            <a:avLst>
              <a:gd name="adj" fmla="val 3810"/>
            </a:avLst>
          </a:prstGeom>
          <a:solidFill>
            <a:srgbClr val="F4F7FD"/>
          </a:solidFill>
          <a:ln/>
        </p:spPr>
      </p:sp>
      <p:sp>
        <p:nvSpPr>
          <p:cNvPr id="25" name="Text 23"/>
          <p:cNvSpPr/>
          <p:nvPr/>
        </p:nvSpPr>
        <p:spPr>
          <a:xfrm>
            <a:off x="8138160" y="3931920"/>
            <a:ext cx="822960" cy="822960"/>
          </a:xfrm>
          <a:prstGeom prst="rect">
            <a:avLst/>
          </a:prstGeom>
          <a:noFill/>
          <a:ln/>
        </p:spPr>
        <p:txBody>
          <a:bodyPr wrap="square" lIns="0" tIns="0" rIns="0" bIns="0" rtlCol="0" anchor="ctr"/>
          <a:lstStyle/>
          <a:p>
            <a:pPr indent="0" marL="0">
              <a:buNone/>
            </a:pPr>
            <a:r>
              <a:rPr lang="en-US" sz="3000" dirty="0">
                <a:solidFill>
                  <a:srgbClr val="000000"/>
                </a:solidFill>
              </a:rPr>
              <a:t>🐙</a:t>
            </a:r>
            <a:endParaRPr lang="en-US" sz="3000" dirty="0"/>
          </a:p>
        </p:txBody>
      </p:sp>
      <p:sp>
        <p:nvSpPr>
          <p:cNvPr id="26" name="Text 24"/>
          <p:cNvSpPr/>
          <p:nvPr/>
        </p:nvSpPr>
        <p:spPr>
          <a:xfrm>
            <a:off x="8138160" y="4709160"/>
            <a:ext cx="306324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Git &amp; GitHub</a:t>
            </a:r>
            <a:endParaRPr lang="en-US" sz="1600" dirty="0"/>
          </a:p>
        </p:txBody>
      </p:sp>
      <p:sp>
        <p:nvSpPr>
          <p:cNvPr id="27" name="Text 25"/>
          <p:cNvSpPr/>
          <p:nvPr/>
        </p:nvSpPr>
        <p:spPr>
          <a:xfrm>
            <a:off x="8138160" y="5074920"/>
            <a:ext cx="3063240" cy="457200"/>
          </a:xfrm>
          <a:prstGeom prst="rect">
            <a:avLst/>
          </a:prstGeom>
          <a:noFill/>
          <a:ln/>
        </p:spPr>
        <p:txBody>
          <a:bodyPr wrap="square" lIns="0" tIns="0" rIns="0" bIns="0" rtlCol="0" anchor="ctr"/>
          <a:lstStyle/>
          <a:p>
            <a:pPr indent="0" marL="0">
              <a:buNone/>
            </a:pPr>
            <a:r>
              <a:rPr lang="en-US" sz="1200" dirty="0">
                <a:solidFill>
                  <a:srgbClr val="5B6472"/>
                </a:solidFill>
                <a:latin typeface="Calibri" pitchFamily="34" charset="0"/>
                <a:ea typeface="Calibri" pitchFamily="34" charset="-122"/>
                <a:cs typeface="Calibri" pitchFamily="34" charset="-120"/>
              </a:rPr>
              <a:t>Version control &amp; hosting</a:t>
            </a:r>
            <a:endParaRPr lang="en-US" sz="1200" dirty="0"/>
          </a:p>
        </p:txBody>
      </p:sp>
      <p:sp>
        <p:nvSpPr>
          <p:cNvPr id="28" name="Text 2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896112" y="2377440"/>
            <a:ext cx="1874520" cy="1371600"/>
          </a:xfrm>
          <a:prstGeom prst="roundRect">
            <a:avLst>
              <a:gd name="adj" fmla="val 5333"/>
            </a:avLst>
          </a:prstGeom>
          <a:solidFill>
            <a:srgbClr val="1E2761"/>
          </a:solidFill>
          <a:ln/>
        </p:spPr>
      </p:sp>
      <p:sp>
        <p:nvSpPr>
          <p:cNvPr id="5" name="Text 3"/>
          <p:cNvSpPr/>
          <p:nvPr/>
        </p:nvSpPr>
        <p:spPr>
          <a:xfrm>
            <a:off x="896112" y="2377440"/>
            <a:ext cx="1874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Raw Email/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SMS Text</a:t>
            </a:r>
            <a:endParaRPr lang="en-US" sz="1300" dirty="0"/>
          </a:p>
        </p:txBody>
      </p:sp>
      <p:sp>
        <p:nvSpPr>
          <p:cNvPr id="6" name="Text 4"/>
          <p:cNvSpPr/>
          <p:nvPr/>
        </p:nvSpPr>
        <p:spPr>
          <a:xfrm>
            <a:off x="2770632" y="2377440"/>
            <a:ext cx="256032" cy="1371600"/>
          </a:xfrm>
          <a:prstGeom prst="rect">
            <a:avLst/>
          </a:prstGeom>
          <a:noFill/>
          <a:ln/>
        </p:spPr>
        <p:txBody>
          <a:bodyPr wrap="square" lIns="0" tIns="0" rIns="0" bIns="0" rtlCol="0" anchor="ctr"/>
          <a:lstStyle/>
          <a:p>
            <a:pPr algn="ctr" indent="0" marL="0">
              <a:buNone/>
            </a:pPr>
            <a:r>
              <a:rPr lang="en-US" sz="2200" dirty="0">
                <a:solidFill>
                  <a:srgbClr val="5B6472"/>
                </a:solidFill>
              </a:rPr>
              <a:t>→</a:t>
            </a:r>
            <a:endParaRPr lang="en-US" sz="2200" dirty="0"/>
          </a:p>
        </p:txBody>
      </p:sp>
      <p:sp>
        <p:nvSpPr>
          <p:cNvPr id="7" name="Shape 5"/>
          <p:cNvSpPr/>
          <p:nvPr/>
        </p:nvSpPr>
        <p:spPr>
          <a:xfrm>
            <a:off x="3026664" y="2377440"/>
            <a:ext cx="1874520" cy="1371600"/>
          </a:xfrm>
          <a:prstGeom prst="roundRect">
            <a:avLst>
              <a:gd name="adj" fmla="val 5333"/>
            </a:avLst>
          </a:prstGeom>
          <a:solidFill>
            <a:srgbClr val="1E2761"/>
          </a:solidFill>
          <a:ln/>
        </p:spPr>
      </p:sp>
      <p:sp>
        <p:nvSpPr>
          <p:cNvPr id="8" name="Text 6"/>
          <p:cNvSpPr/>
          <p:nvPr/>
        </p:nvSpPr>
        <p:spPr>
          <a:xfrm>
            <a:off x="3026664" y="2377440"/>
            <a:ext cx="1874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Text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Preprocessing</a:t>
            </a:r>
            <a:endParaRPr lang="en-US" sz="1300" dirty="0"/>
          </a:p>
        </p:txBody>
      </p:sp>
      <p:sp>
        <p:nvSpPr>
          <p:cNvPr id="9" name="Text 7"/>
          <p:cNvSpPr/>
          <p:nvPr/>
        </p:nvSpPr>
        <p:spPr>
          <a:xfrm>
            <a:off x="4901184" y="2377440"/>
            <a:ext cx="256032" cy="1371600"/>
          </a:xfrm>
          <a:prstGeom prst="rect">
            <a:avLst/>
          </a:prstGeom>
          <a:noFill/>
          <a:ln/>
        </p:spPr>
        <p:txBody>
          <a:bodyPr wrap="square" lIns="0" tIns="0" rIns="0" bIns="0" rtlCol="0" anchor="ctr"/>
          <a:lstStyle/>
          <a:p>
            <a:pPr algn="ctr" indent="0" marL="0">
              <a:buNone/>
            </a:pPr>
            <a:r>
              <a:rPr lang="en-US" sz="2200" dirty="0">
                <a:solidFill>
                  <a:srgbClr val="5B6472"/>
                </a:solidFill>
              </a:rPr>
              <a:t>→</a:t>
            </a:r>
            <a:endParaRPr lang="en-US" sz="2200" dirty="0"/>
          </a:p>
        </p:txBody>
      </p:sp>
      <p:sp>
        <p:nvSpPr>
          <p:cNvPr id="10" name="Shape 8"/>
          <p:cNvSpPr/>
          <p:nvPr/>
        </p:nvSpPr>
        <p:spPr>
          <a:xfrm>
            <a:off x="5157216" y="2377440"/>
            <a:ext cx="1874520" cy="1371600"/>
          </a:xfrm>
          <a:prstGeom prst="roundRect">
            <a:avLst>
              <a:gd name="adj" fmla="val 5333"/>
            </a:avLst>
          </a:prstGeom>
          <a:solidFill>
            <a:srgbClr val="1E2761"/>
          </a:solidFill>
          <a:ln/>
        </p:spPr>
      </p:sp>
      <p:sp>
        <p:nvSpPr>
          <p:cNvPr id="11" name="Text 9"/>
          <p:cNvSpPr/>
          <p:nvPr/>
        </p:nvSpPr>
        <p:spPr>
          <a:xfrm>
            <a:off x="5157216" y="2377440"/>
            <a:ext cx="1874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TF-IDF</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Vectorization</a:t>
            </a:r>
            <a:endParaRPr lang="en-US" sz="1300" dirty="0"/>
          </a:p>
        </p:txBody>
      </p:sp>
      <p:sp>
        <p:nvSpPr>
          <p:cNvPr id="12" name="Text 10"/>
          <p:cNvSpPr/>
          <p:nvPr/>
        </p:nvSpPr>
        <p:spPr>
          <a:xfrm>
            <a:off x="7031736" y="2377440"/>
            <a:ext cx="256032" cy="1371600"/>
          </a:xfrm>
          <a:prstGeom prst="rect">
            <a:avLst/>
          </a:prstGeom>
          <a:noFill/>
          <a:ln/>
        </p:spPr>
        <p:txBody>
          <a:bodyPr wrap="square" lIns="0" tIns="0" rIns="0" bIns="0" rtlCol="0" anchor="ctr"/>
          <a:lstStyle/>
          <a:p>
            <a:pPr algn="ctr" indent="0" marL="0">
              <a:buNone/>
            </a:pPr>
            <a:r>
              <a:rPr lang="en-US" sz="2200" dirty="0">
                <a:solidFill>
                  <a:srgbClr val="5B6472"/>
                </a:solidFill>
              </a:rPr>
              <a:t>→</a:t>
            </a:r>
            <a:endParaRPr lang="en-US" sz="2200" dirty="0"/>
          </a:p>
        </p:txBody>
      </p:sp>
      <p:sp>
        <p:nvSpPr>
          <p:cNvPr id="13" name="Shape 11"/>
          <p:cNvSpPr/>
          <p:nvPr/>
        </p:nvSpPr>
        <p:spPr>
          <a:xfrm>
            <a:off x="7287768" y="2377440"/>
            <a:ext cx="1874520" cy="1371600"/>
          </a:xfrm>
          <a:prstGeom prst="roundRect">
            <a:avLst>
              <a:gd name="adj" fmla="val 5333"/>
            </a:avLst>
          </a:prstGeom>
          <a:solidFill>
            <a:srgbClr val="1E2761"/>
          </a:solidFill>
          <a:ln/>
        </p:spPr>
      </p:sp>
      <p:sp>
        <p:nvSpPr>
          <p:cNvPr id="14" name="Text 12"/>
          <p:cNvSpPr/>
          <p:nvPr/>
        </p:nvSpPr>
        <p:spPr>
          <a:xfrm>
            <a:off x="7287768" y="2377440"/>
            <a:ext cx="1874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ML Model</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(NB / LogReg)</a:t>
            </a:r>
            <a:endParaRPr lang="en-US" sz="1300" dirty="0"/>
          </a:p>
        </p:txBody>
      </p:sp>
      <p:sp>
        <p:nvSpPr>
          <p:cNvPr id="15" name="Text 13"/>
          <p:cNvSpPr/>
          <p:nvPr/>
        </p:nvSpPr>
        <p:spPr>
          <a:xfrm>
            <a:off x="9162288" y="2377440"/>
            <a:ext cx="256032" cy="1371600"/>
          </a:xfrm>
          <a:prstGeom prst="rect">
            <a:avLst/>
          </a:prstGeom>
          <a:noFill/>
          <a:ln/>
        </p:spPr>
        <p:txBody>
          <a:bodyPr wrap="square" lIns="0" tIns="0" rIns="0" bIns="0" rtlCol="0" anchor="ctr"/>
          <a:lstStyle/>
          <a:p>
            <a:pPr algn="ctr" indent="0" marL="0">
              <a:buNone/>
            </a:pPr>
            <a:r>
              <a:rPr lang="en-US" sz="2200" dirty="0">
                <a:solidFill>
                  <a:srgbClr val="5B6472"/>
                </a:solidFill>
              </a:rPr>
              <a:t>→</a:t>
            </a:r>
            <a:endParaRPr lang="en-US" sz="2200" dirty="0"/>
          </a:p>
        </p:txBody>
      </p:sp>
      <p:sp>
        <p:nvSpPr>
          <p:cNvPr id="16" name="Shape 14"/>
          <p:cNvSpPr/>
          <p:nvPr/>
        </p:nvSpPr>
        <p:spPr>
          <a:xfrm>
            <a:off x="9418320" y="2377440"/>
            <a:ext cx="1874520" cy="1371600"/>
          </a:xfrm>
          <a:prstGeom prst="roundRect">
            <a:avLst>
              <a:gd name="adj" fmla="val 5333"/>
            </a:avLst>
          </a:prstGeom>
          <a:solidFill>
            <a:srgbClr val="3B82F6"/>
          </a:solidFill>
          <a:ln/>
        </p:spPr>
      </p:sp>
      <p:sp>
        <p:nvSpPr>
          <p:cNvPr id="17" name="Text 15"/>
          <p:cNvSpPr/>
          <p:nvPr/>
        </p:nvSpPr>
        <p:spPr>
          <a:xfrm>
            <a:off x="9418320" y="2377440"/>
            <a:ext cx="18745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Spam / Ham</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Prediction</a:t>
            </a:r>
            <a:endParaRPr lang="en-US" sz="1300" dirty="0"/>
          </a:p>
        </p:txBody>
      </p:sp>
      <p:sp>
        <p:nvSpPr>
          <p:cNvPr id="18" name="Text 16"/>
          <p:cNvSpPr/>
          <p:nvPr/>
        </p:nvSpPr>
        <p:spPr>
          <a:xfrm>
            <a:off x="1097280" y="4297680"/>
            <a:ext cx="9966960" cy="1097280"/>
          </a:xfrm>
          <a:prstGeom prst="rect">
            <a:avLst/>
          </a:prstGeom>
          <a:noFill/>
          <a:ln/>
        </p:spPr>
        <p:txBody>
          <a:bodyPr wrap="square" lIns="0" tIns="0" rIns="0" bIns="0" rtlCol="0" anchor="ctr"/>
          <a:lstStyle/>
          <a:p>
            <a:pPr algn="ctr" indent="0" marL="0">
              <a:lnSpc>
                <a:spcPct val="130000"/>
              </a:lnSpc>
              <a:buNone/>
            </a:pPr>
            <a:r>
              <a:rPr lang="en-US" sz="1500" dirty="0">
                <a:solidFill>
                  <a:srgbClr val="1B1B1F"/>
                </a:solidFill>
                <a:latin typeface="Calibri" pitchFamily="34" charset="0"/>
                <a:ea typeface="Calibri" pitchFamily="34" charset="-122"/>
                <a:cs typeface="Calibri" pitchFamily="34" charset="-120"/>
              </a:rPr>
              <a:t>The pipeline takes raw text input, cleans and normalizes it, converts it into a sparse TF-IDF feature matrix, and passes it through the trained classifier to output a spam/ham label with a confidence score.</a:t>
            </a:r>
            <a:endParaRPr lang="en-US" sz="1500" dirty="0"/>
          </a:p>
        </p:txBody>
      </p:sp>
      <p:sp>
        <p:nvSpPr>
          <p:cNvPr id="19" name="Text 17"/>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Methodology</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Overall development approach</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1. Data Collection — gather labeled spam and ham messages.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2. Data Preprocessing — clean and normalize text for consistent features.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3. Feature Extraction — convert text to numeric vectors using TF-IDF.</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4. Model Training — fit Multinomial Naive Bayes and Logistic Regression models.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5. Model Evaluation — measure accuracy, precision, recall, F1-score, confusion matrix.</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6. Deployment — persist the best model and serve it via CLI and web app.</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Dataset</a:t>
            </a:r>
            <a:endParaRPr lang="en-US" sz="3000" dirty="0"/>
          </a:p>
        </p:txBody>
      </p:sp>
      <p:sp>
        <p:nvSpPr>
          <p:cNvPr id="4" name="Text 2"/>
          <p:cNvSpPr/>
          <p:nvPr/>
        </p:nvSpPr>
        <p:spPr>
          <a:xfrm>
            <a:off x="640080" y="1417320"/>
            <a:ext cx="6035040" cy="484632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B1B1F"/>
                </a:solidFill>
                <a:latin typeface="Calibri" pitchFamily="34" charset="0"/>
                <a:ea typeface="Calibri" pitchFamily="34" charset="-122"/>
                <a:cs typeface="Calibri" pitchFamily="34" charset="-120"/>
              </a:rPr>
              <a:t>300 total labeled messages</a:t>
            </a:r>
            <a:endParaRPr lang="en-US" sz="1500" dirty="0"/>
          </a:p>
          <a:p>
            <a:pPr marL="342900" indent="-342900">
              <a:spcAft>
                <a:spcPts val="1200"/>
              </a:spcAft>
              <a:buSzPct val="100000"/>
              <a:buChar char="•"/>
            </a:pPr>
            <a:r>
              <a:rPr lang="en-US" sz="1500" dirty="0">
                <a:solidFill>
                  <a:srgbClr val="1B1B1F"/>
                </a:solidFill>
                <a:latin typeface="Calibri" pitchFamily="34" charset="0"/>
                <a:ea typeface="Calibri" pitchFamily="34" charset="-122"/>
                <a:cs typeface="Calibri" pitchFamily="34" charset="-120"/>
              </a:rPr>
              <a:t>150 spam + 150 ham (balanced classes)</a:t>
            </a:r>
            <a:endParaRPr lang="en-US" sz="1500" dirty="0"/>
          </a:p>
          <a:p>
            <a:pPr marL="342900" indent="-342900">
              <a:spcAft>
                <a:spcPts val="1200"/>
              </a:spcAft>
              <a:buSzPct val="100000"/>
              <a:buChar char="•"/>
            </a:pPr>
            <a:r>
              <a:rPr lang="en-US" sz="1500" dirty="0">
                <a:solidFill>
                  <a:srgbClr val="1B1B1F"/>
                </a:solidFill>
                <a:latin typeface="Calibri" pitchFamily="34" charset="0"/>
                <a:ea typeface="Calibri" pitchFamily="34" charset="-122"/>
                <a:cs typeface="Calibri" pitchFamily="34" charset="-120"/>
              </a:rPr>
              <a:t>Columns: label (spam/ham), text (message content)</a:t>
            </a:r>
            <a:endParaRPr lang="en-US" sz="1500" dirty="0"/>
          </a:p>
          <a:p>
            <a:pPr marL="342900" indent="-342900">
              <a:spcAft>
                <a:spcPts val="1200"/>
              </a:spcAft>
              <a:buSzPct val="100000"/>
              <a:buChar char="•"/>
            </a:pPr>
            <a:r>
              <a:rPr lang="en-US" sz="1500" dirty="0">
                <a:solidFill>
                  <a:srgbClr val="1B1B1F"/>
                </a:solidFill>
                <a:latin typeface="Calibri" pitchFamily="34" charset="0"/>
                <a:ea typeface="Calibri" pitchFamily="34" charset="-122"/>
                <a:cs typeface="Calibri" pitchFamily="34" charset="-120"/>
              </a:rPr>
              <a:t>Built from curated spam/ham templates with randomized names, links, companies and amounts for lexical variety</a:t>
            </a:r>
            <a:endParaRPr lang="en-US" sz="1500" dirty="0"/>
          </a:p>
          <a:p>
            <a:pPr marL="342900" indent="-342900">
              <a:buSzPct val="100000"/>
              <a:buChar char="•"/>
            </a:pPr>
            <a:r>
              <a:rPr lang="en-US" sz="1500" dirty="0">
                <a:solidFill>
                  <a:srgbClr val="1B1B1F"/>
                </a:solidFill>
                <a:latin typeface="Calibri" pitchFamily="34" charset="0"/>
                <a:ea typeface="Calibri" pitchFamily="34" charset="-122"/>
                <a:cs typeface="Calibri" pitchFamily="34" charset="-120"/>
              </a:rPr>
              <a:t>Pipeline is dataset-agnostic — a real corpus (e.g. UCI SMS Spam Collection) can be substituted directly</a:t>
            </a:r>
            <a:endParaRPr lang="en-US" sz="1500" dirty="0"/>
          </a:p>
        </p:txBody>
      </p:sp>
      <p:graphicFrame>
        <p:nvGraphicFramePr>
          <p:cNvPr id="5" name="Chart 0" descr=""/>
          <p:cNvGraphicFramePr/>
          <p:nvPr/>
        </p:nvGraphicFramePr>
        <p:xfrm>
          <a:off x="6949440" y="1463040"/>
          <a:ext cx="45720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 Preprocessing</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Cleaning raw text before modeling</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Lowercasing</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Ensures 'FREE' and 'free' are treated identically.</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URL normalization</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Replaces links with a placeholder token 'URL' since exact URLs vary but their presence is informative.</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Number normalization</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Replaces digits with a 'NUM' token to generalize prize amounts, phone numbers, etc.</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Punctuation &amp; symbol removal</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Strips punctuation to reduce noise in the vocabulary.</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Whitespace normalization</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Collapses repeated spaces for consistent tokenization.</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Feature Extraction</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TF-IDF Vectorization</a:t>
            </a:r>
            <a:endParaRPr lang="en-US" sz="1300" dirty="0"/>
          </a:p>
        </p:txBody>
      </p:sp>
      <p:sp>
        <p:nvSpPr>
          <p:cNvPr id="5" name="Text 3"/>
          <p:cNvSpPr/>
          <p:nvPr/>
        </p:nvSpPr>
        <p:spPr>
          <a:xfrm>
            <a:off x="640080" y="1417320"/>
            <a:ext cx="10881360" cy="1005840"/>
          </a:xfrm>
          <a:prstGeom prst="rect">
            <a:avLst/>
          </a:prstGeom>
          <a:noFill/>
          <a:ln/>
        </p:spPr>
        <p:txBody>
          <a:bodyPr wrap="square" lIns="0" tIns="0" rIns="0" bIns="0" rtlCol="0" anchor="ctr"/>
          <a:lstStyle/>
          <a:p>
            <a:pPr indent="0" marL="0">
              <a:lnSpc>
                <a:spcPct val="130000"/>
              </a:lnSpc>
              <a:buNone/>
            </a:pPr>
            <a:r>
              <a:rPr lang="en-US" sz="1500" dirty="0">
                <a:solidFill>
                  <a:srgbClr val="1B1B1F"/>
                </a:solidFill>
                <a:latin typeface="Calibri" pitchFamily="34" charset="0"/>
                <a:ea typeface="Calibri" pitchFamily="34" charset="-122"/>
                <a:cs typeface="Calibri" pitchFamily="34" charset="-120"/>
              </a:rPr>
              <a:t>TF-IDF (Term Frequency–Inverse Document Frequency) converts each cleaned message into a numeric vector, weighting words that are frequent in a message but rare across the whole dataset — these tend to be the most discriminative for classification.</a:t>
            </a:r>
            <a:endParaRPr lang="en-US" sz="1500" dirty="0"/>
          </a:p>
        </p:txBody>
      </p:sp>
      <p:sp>
        <p:nvSpPr>
          <p:cNvPr id="6" name="Shape 4"/>
          <p:cNvSpPr/>
          <p:nvPr/>
        </p:nvSpPr>
        <p:spPr>
          <a:xfrm>
            <a:off x="640080" y="2651760"/>
            <a:ext cx="10881360" cy="777240"/>
          </a:xfrm>
          <a:prstGeom prst="roundRect">
            <a:avLst>
              <a:gd name="adj" fmla="val 7059"/>
            </a:avLst>
          </a:prstGeom>
          <a:solidFill>
            <a:srgbClr val="F4F7FD"/>
          </a:solidFill>
          <a:ln/>
        </p:spPr>
      </p:sp>
      <p:sp>
        <p:nvSpPr>
          <p:cNvPr id="7" name="Text 5"/>
          <p:cNvSpPr/>
          <p:nvPr/>
        </p:nvSpPr>
        <p:spPr>
          <a:xfrm>
            <a:off x="914400" y="2651760"/>
            <a:ext cx="2377440" cy="77724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stop_words</a:t>
            </a:r>
            <a:endParaRPr lang="en-US" sz="1500" dirty="0"/>
          </a:p>
        </p:txBody>
      </p:sp>
      <p:sp>
        <p:nvSpPr>
          <p:cNvPr id="8" name="Text 6"/>
          <p:cNvSpPr/>
          <p:nvPr/>
        </p:nvSpPr>
        <p:spPr>
          <a:xfrm>
            <a:off x="3383280" y="2651760"/>
            <a:ext cx="7955280" cy="777240"/>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'english' — removes common non-informative words</a:t>
            </a:r>
            <a:endParaRPr lang="en-US" sz="1400" dirty="0"/>
          </a:p>
        </p:txBody>
      </p:sp>
      <p:sp>
        <p:nvSpPr>
          <p:cNvPr id="9" name="Shape 7"/>
          <p:cNvSpPr/>
          <p:nvPr/>
        </p:nvSpPr>
        <p:spPr>
          <a:xfrm>
            <a:off x="640080" y="3611880"/>
            <a:ext cx="10881360" cy="777240"/>
          </a:xfrm>
          <a:prstGeom prst="roundRect">
            <a:avLst>
              <a:gd name="adj" fmla="val 7059"/>
            </a:avLst>
          </a:prstGeom>
          <a:solidFill>
            <a:srgbClr val="F4F7FD"/>
          </a:solidFill>
          <a:ln/>
        </p:spPr>
      </p:sp>
      <p:sp>
        <p:nvSpPr>
          <p:cNvPr id="10" name="Text 8"/>
          <p:cNvSpPr/>
          <p:nvPr/>
        </p:nvSpPr>
        <p:spPr>
          <a:xfrm>
            <a:off x="914400" y="3611880"/>
            <a:ext cx="2377440" cy="77724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max_features</a:t>
            </a:r>
            <a:endParaRPr lang="en-US" sz="1500" dirty="0"/>
          </a:p>
        </p:txBody>
      </p:sp>
      <p:sp>
        <p:nvSpPr>
          <p:cNvPr id="11" name="Text 9"/>
          <p:cNvSpPr/>
          <p:nvPr/>
        </p:nvSpPr>
        <p:spPr>
          <a:xfrm>
            <a:off x="3383280" y="3611880"/>
            <a:ext cx="7955280" cy="777240"/>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3000 — caps vocabulary size for efficiency</a:t>
            </a:r>
            <a:endParaRPr lang="en-US" sz="1400" dirty="0"/>
          </a:p>
        </p:txBody>
      </p:sp>
      <p:sp>
        <p:nvSpPr>
          <p:cNvPr id="12" name="Shape 10"/>
          <p:cNvSpPr/>
          <p:nvPr/>
        </p:nvSpPr>
        <p:spPr>
          <a:xfrm>
            <a:off x="640080" y="4572000"/>
            <a:ext cx="10881360" cy="777240"/>
          </a:xfrm>
          <a:prstGeom prst="roundRect">
            <a:avLst>
              <a:gd name="adj" fmla="val 7059"/>
            </a:avLst>
          </a:prstGeom>
          <a:solidFill>
            <a:srgbClr val="F4F7FD"/>
          </a:solidFill>
          <a:ln/>
        </p:spPr>
      </p:sp>
      <p:sp>
        <p:nvSpPr>
          <p:cNvPr id="13" name="Text 11"/>
          <p:cNvSpPr/>
          <p:nvPr/>
        </p:nvSpPr>
        <p:spPr>
          <a:xfrm>
            <a:off x="914400" y="4572000"/>
            <a:ext cx="2377440" cy="77724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ngram_range</a:t>
            </a:r>
            <a:endParaRPr lang="en-US" sz="1500" dirty="0"/>
          </a:p>
        </p:txBody>
      </p:sp>
      <p:sp>
        <p:nvSpPr>
          <p:cNvPr id="14" name="Text 12"/>
          <p:cNvSpPr/>
          <p:nvPr/>
        </p:nvSpPr>
        <p:spPr>
          <a:xfrm>
            <a:off x="3383280" y="4572000"/>
            <a:ext cx="7955280" cy="777240"/>
          </a:xfrm>
          <a:prstGeom prst="rect">
            <a:avLst/>
          </a:prstGeom>
          <a:noFill/>
          <a:ln/>
        </p:spPr>
        <p:txBody>
          <a:bodyPr wrap="square" lIns="0" tIns="0" rIns="0" bIns="0" rtlCol="0" anchor="ctr"/>
          <a:lstStyle/>
          <a:p>
            <a:pPr indent="0" marL="0">
              <a:buNone/>
            </a:pPr>
            <a:r>
              <a:rPr lang="en-US" sz="1400" dirty="0">
                <a:solidFill>
                  <a:srgbClr val="1B1B1F"/>
                </a:solidFill>
                <a:latin typeface="Calibri" pitchFamily="34" charset="0"/>
                <a:ea typeface="Calibri" pitchFamily="34" charset="-122"/>
                <a:cs typeface="Calibri" pitchFamily="34" charset="-120"/>
              </a:rPr>
              <a:t>(1, 2) — captures both single words and word pairs</a:t>
            </a:r>
            <a:endParaRPr lang="en-US" sz="1400" dirty="0"/>
          </a:p>
        </p:txBody>
      </p:sp>
      <p:sp>
        <p:nvSpPr>
          <p:cNvPr id="15" name="Text 1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Model Training</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Algorithms compared</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Multinomial Naive Bayes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A probabilistic classifier well suited to word-count style features; fast to train and a strong baseline for text classification.</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Logistic Regression</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A linear model that estimates the probability of the spam class; often very competitive on TF-IDF features.</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Train/Test Split</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80% training, 20% testing, stratified by class to preserve the spam/ham ratio in both sets.</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Model Selection</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The model with the higher F1-score on the test set is persisted as the final classifier.</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Model Evaluation</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Metrics used to judge performance</a:t>
            </a:r>
            <a:endParaRPr lang="en-US" sz="1300" dirty="0"/>
          </a:p>
        </p:txBody>
      </p:sp>
      <p:sp>
        <p:nvSpPr>
          <p:cNvPr id="5" name="Shape 3"/>
          <p:cNvSpPr/>
          <p:nvPr/>
        </p:nvSpPr>
        <p:spPr>
          <a:xfrm>
            <a:off x="640080" y="1645920"/>
            <a:ext cx="2560320" cy="1828800"/>
          </a:xfrm>
          <a:prstGeom prst="roundRect">
            <a:avLst>
              <a:gd name="adj" fmla="val 4000"/>
            </a:avLst>
          </a:prstGeom>
          <a:solidFill>
            <a:srgbClr val="1E2761"/>
          </a:solidFill>
          <a:ln/>
        </p:spPr>
      </p:sp>
      <p:sp>
        <p:nvSpPr>
          <p:cNvPr id="6" name="Text 4"/>
          <p:cNvSpPr/>
          <p:nvPr/>
        </p:nvSpPr>
        <p:spPr>
          <a:xfrm>
            <a:off x="640080" y="1828800"/>
            <a:ext cx="25603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Accuracy</a:t>
            </a:r>
            <a:endParaRPr lang="en-US" sz="1800" dirty="0"/>
          </a:p>
        </p:txBody>
      </p:sp>
      <p:sp>
        <p:nvSpPr>
          <p:cNvPr id="7" name="Text 5"/>
          <p:cNvSpPr/>
          <p:nvPr/>
        </p:nvSpPr>
        <p:spPr>
          <a:xfrm>
            <a:off x="777240" y="2377440"/>
            <a:ext cx="2286000" cy="10058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Overall proportion of correct predictions</a:t>
            </a:r>
            <a:endParaRPr lang="en-US" sz="1150" dirty="0"/>
          </a:p>
        </p:txBody>
      </p:sp>
      <p:sp>
        <p:nvSpPr>
          <p:cNvPr id="8" name="Shape 6"/>
          <p:cNvSpPr/>
          <p:nvPr/>
        </p:nvSpPr>
        <p:spPr>
          <a:xfrm>
            <a:off x="3383280" y="1645920"/>
            <a:ext cx="2560320" cy="1828800"/>
          </a:xfrm>
          <a:prstGeom prst="roundRect">
            <a:avLst>
              <a:gd name="adj" fmla="val 4000"/>
            </a:avLst>
          </a:prstGeom>
          <a:solidFill>
            <a:srgbClr val="1E2761"/>
          </a:solidFill>
          <a:ln/>
        </p:spPr>
      </p:sp>
      <p:sp>
        <p:nvSpPr>
          <p:cNvPr id="9" name="Text 7"/>
          <p:cNvSpPr/>
          <p:nvPr/>
        </p:nvSpPr>
        <p:spPr>
          <a:xfrm>
            <a:off x="3383280" y="1828800"/>
            <a:ext cx="25603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Precision</a:t>
            </a:r>
            <a:endParaRPr lang="en-US" sz="1800" dirty="0"/>
          </a:p>
        </p:txBody>
      </p:sp>
      <p:sp>
        <p:nvSpPr>
          <p:cNvPr id="10" name="Text 8"/>
          <p:cNvSpPr/>
          <p:nvPr/>
        </p:nvSpPr>
        <p:spPr>
          <a:xfrm>
            <a:off x="3520440" y="2377440"/>
            <a:ext cx="2286000" cy="10058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Of predicted spam, how much was truly spam</a:t>
            </a:r>
            <a:endParaRPr lang="en-US" sz="1150" dirty="0"/>
          </a:p>
        </p:txBody>
      </p:sp>
      <p:sp>
        <p:nvSpPr>
          <p:cNvPr id="11" name="Shape 9"/>
          <p:cNvSpPr/>
          <p:nvPr/>
        </p:nvSpPr>
        <p:spPr>
          <a:xfrm>
            <a:off x="6126480" y="1645920"/>
            <a:ext cx="2560320" cy="1828800"/>
          </a:xfrm>
          <a:prstGeom prst="roundRect">
            <a:avLst>
              <a:gd name="adj" fmla="val 4000"/>
            </a:avLst>
          </a:prstGeom>
          <a:solidFill>
            <a:srgbClr val="1E2761"/>
          </a:solidFill>
          <a:ln/>
        </p:spPr>
      </p:sp>
      <p:sp>
        <p:nvSpPr>
          <p:cNvPr id="12" name="Text 10"/>
          <p:cNvSpPr/>
          <p:nvPr/>
        </p:nvSpPr>
        <p:spPr>
          <a:xfrm>
            <a:off x="6126480" y="1828800"/>
            <a:ext cx="25603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Recall</a:t>
            </a:r>
            <a:endParaRPr lang="en-US" sz="1800" dirty="0"/>
          </a:p>
        </p:txBody>
      </p:sp>
      <p:sp>
        <p:nvSpPr>
          <p:cNvPr id="13" name="Text 11"/>
          <p:cNvSpPr/>
          <p:nvPr/>
        </p:nvSpPr>
        <p:spPr>
          <a:xfrm>
            <a:off x="6263640" y="2377440"/>
            <a:ext cx="2286000" cy="10058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Of actual spam, how much was correctly caught</a:t>
            </a:r>
            <a:endParaRPr lang="en-US" sz="1150" dirty="0"/>
          </a:p>
        </p:txBody>
      </p:sp>
      <p:sp>
        <p:nvSpPr>
          <p:cNvPr id="14" name="Shape 12"/>
          <p:cNvSpPr/>
          <p:nvPr/>
        </p:nvSpPr>
        <p:spPr>
          <a:xfrm>
            <a:off x="8869680" y="1645920"/>
            <a:ext cx="2560320" cy="1828800"/>
          </a:xfrm>
          <a:prstGeom prst="roundRect">
            <a:avLst>
              <a:gd name="adj" fmla="val 4000"/>
            </a:avLst>
          </a:prstGeom>
          <a:solidFill>
            <a:srgbClr val="1E2761"/>
          </a:solidFill>
          <a:ln/>
        </p:spPr>
      </p:sp>
      <p:sp>
        <p:nvSpPr>
          <p:cNvPr id="15" name="Text 13"/>
          <p:cNvSpPr/>
          <p:nvPr/>
        </p:nvSpPr>
        <p:spPr>
          <a:xfrm>
            <a:off x="8869680" y="1828800"/>
            <a:ext cx="256032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F1-score</a:t>
            </a:r>
            <a:endParaRPr lang="en-US" sz="1800" dirty="0"/>
          </a:p>
        </p:txBody>
      </p:sp>
      <p:sp>
        <p:nvSpPr>
          <p:cNvPr id="16" name="Text 14"/>
          <p:cNvSpPr/>
          <p:nvPr/>
        </p:nvSpPr>
        <p:spPr>
          <a:xfrm>
            <a:off x="9006840" y="2377440"/>
            <a:ext cx="2286000" cy="1005840"/>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Harmonic mean of precision and recall</a:t>
            </a:r>
            <a:endParaRPr lang="en-US" sz="1150" dirty="0"/>
          </a:p>
        </p:txBody>
      </p:sp>
      <p:sp>
        <p:nvSpPr>
          <p:cNvPr id="17" name="Text 15"/>
          <p:cNvSpPr/>
          <p:nvPr/>
        </p:nvSpPr>
        <p:spPr>
          <a:xfrm>
            <a:off x="640080" y="3840480"/>
            <a:ext cx="10881360" cy="914400"/>
          </a:xfrm>
          <a:prstGeom prst="rect">
            <a:avLst/>
          </a:prstGeom>
          <a:noFill/>
          <a:ln/>
        </p:spPr>
        <p:txBody>
          <a:bodyPr wrap="square" lIns="0" tIns="0" rIns="0" bIns="0" rtlCol="0" anchor="ctr"/>
          <a:lstStyle/>
          <a:p>
            <a:pPr indent="0" marL="0">
              <a:lnSpc>
                <a:spcPct val="130000"/>
              </a:lnSpc>
              <a:buNone/>
            </a:pPr>
            <a:r>
              <a:rPr lang="en-US" sz="1400" i="1" dirty="0">
                <a:solidFill>
                  <a:srgbClr val="5B6472"/>
                </a:solidFill>
                <a:latin typeface="Calibri" pitchFamily="34" charset="0"/>
                <a:ea typeface="Calibri" pitchFamily="34" charset="-122"/>
                <a:cs typeface="Calibri" pitchFamily="34" charset="-120"/>
              </a:rPr>
              <a:t>A confusion matrix additionally breaks predictions into True Positives, True Negatives, False Positives and False Negatives — critical for spotting whether the model wrongly flags legitimate mail as spam.</a:t>
            </a:r>
            <a:endParaRPr lang="en-US" sz="1400" dirty="0"/>
          </a:p>
        </p:txBody>
      </p:sp>
      <p:pic>
        <p:nvPicPr>
          <p:cNvPr id="18" name="Image 0" descr="shot_training.png">    </p:cNvPr>
          <p:cNvPicPr>
            <a:picLocks noChangeAspect="1"/>
          </p:cNvPicPr>
          <p:nvPr/>
        </p:nvPicPr>
        <p:blipFill>
          <a:blip r:embed="rId1"/>
          <a:srcRect l="0" r="0" t="0" b="0"/>
          <a:stretch/>
        </p:blipFill>
        <p:spPr>
          <a:xfrm>
            <a:off x="4728452" y="4709160"/>
            <a:ext cx="2732049" cy="1600200"/>
          </a:xfrm>
          <a:prstGeom prst="rect">
            <a:avLst/>
          </a:prstGeom>
        </p:spPr>
      </p:pic>
      <p:sp>
        <p:nvSpPr>
          <p:cNvPr id="19" name="Text 1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Working Module — Model Training</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src/train.py execution output</a:t>
            </a:r>
            <a:endParaRPr lang="en-US" sz="1300" dirty="0"/>
          </a:p>
        </p:txBody>
      </p:sp>
      <p:pic>
        <p:nvPicPr>
          <p:cNvPr id="5" name="Image 0" descr="shot_training.png">    </p:cNvPr>
          <p:cNvPicPr>
            <a:picLocks noChangeAspect="1"/>
          </p:cNvPicPr>
          <p:nvPr/>
        </p:nvPicPr>
        <p:blipFill>
          <a:blip r:embed="rId1"/>
          <a:srcRect l="0" r="0" t="0" b="0"/>
          <a:stretch/>
        </p:blipFill>
        <p:spPr>
          <a:xfrm>
            <a:off x="1801256" y="1417320"/>
            <a:ext cx="8586439" cy="5029200"/>
          </a:xfrm>
          <a:prstGeom prst="rect">
            <a:avLst/>
          </a:prstGeom>
        </p:spPr>
      </p:pic>
      <p:sp>
        <p:nvSpPr>
          <p:cNvPr id="6" name="Text 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Working Module — Prediction CLI</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src/predict.py execution output</a:t>
            </a:r>
            <a:endParaRPr lang="en-US" sz="1300" dirty="0"/>
          </a:p>
        </p:txBody>
      </p:sp>
      <p:pic>
        <p:nvPicPr>
          <p:cNvPr id="5" name="Image 0" descr="shot_predict.png">    </p:cNvPr>
          <p:cNvPicPr>
            <a:picLocks noChangeAspect="1"/>
          </p:cNvPicPr>
          <p:nvPr/>
        </p:nvPicPr>
        <p:blipFill>
          <a:blip r:embed="rId1"/>
          <a:srcRect l="0" r="0" t="0" b="0"/>
          <a:stretch/>
        </p:blipFill>
        <p:spPr>
          <a:xfrm>
            <a:off x="1801256" y="1417320"/>
            <a:ext cx="8586439" cy="5029200"/>
          </a:xfrm>
          <a:prstGeom prst="rect">
            <a:avLst/>
          </a:prstGeom>
        </p:spPr>
      </p:pic>
      <p:sp>
        <p:nvSpPr>
          <p:cNvPr id="6" name="Text 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Working Module — Web Application</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app.py (Streamlit) — real-time classification</a:t>
            </a:r>
            <a:endParaRPr lang="en-US" sz="1300" dirty="0"/>
          </a:p>
        </p:txBody>
      </p:sp>
      <p:pic>
        <p:nvPicPr>
          <p:cNvPr id="5" name="Image 0" descr="shot_webapp.png">    </p:cNvPr>
          <p:cNvPicPr>
            <a:picLocks noChangeAspect="1"/>
          </p:cNvPicPr>
          <p:nvPr/>
        </p:nvPicPr>
        <p:blipFill>
          <a:blip r:embed="rId1"/>
          <a:srcRect l="0" r="0" t="0" b="0"/>
          <a:stretch/>
        </p:blipFill>
        <p:spPr>
          <a:xfrm>
            <a:off x="2182876" y="1417320"/>
            <a:ext cx="7823200" cy="5029200"/>
          </a:xfrm>
          <a:prstGeom prst="rect">
            <a:avLst/>
          </a:prstGeom>
        </p:spPr>
      </p:pic>
      <p:sp>
        <p:nvSpPr>
          <p:cNvPr id="6" name="Text 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Results &amp; Performance Comparison</a:t>
            </a:r>
            <a:endParaRPr lang="en-US" sz="3000" dirty="0"/>
          </a:p>
        </p:txBody>
      </p:sp>
      <p:graphicFrame>
        <p:nvGraphicFramePr>
          <p:cNvPr id="4" name="Chart 0" descr=""/>
          <p:cNvGraphicFramePr/>
          <p:nvPr/>
        </p:nvGraphicFramePr>
        <p:xfrm>
          <a:off x="640080" y="1417320"/>
          <a:ext cx="6675120" cy="4663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89520" y="1737360"/>
            <a:ext cx="3931920" cy="420624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1B1B1F"/>
                </a:solidFill>
                <a:latin typeface="Calibri" pitchFamily="34" charset="0"/>
                <a:ea typeface="Calibri" pitchFamily="34" charset="-122"/>
                <a:cs typeface="Calibri" pitchFamily="34" charset="-120"/>
              </a:rPr>
              <a:t>Both models achieved perfect scores on the test split.</a:t>
            </a:r>
            <a:endParaRPr lang="en-US" sz="1300" dirty="0"/>
          </a:p>
          <a:p>
            <a:pPr marL="342900" indent="-342900">
              <a:spcAft>
                <a:spcPts val="1200"/>
              </a:spcAft>
              <a:buSzPct val="100000"/>
              <a:buChar char="•"/>
            </a:pPr>
            <a:r>
              <a:rPr lang="en-US" sz="1300" dirty="0">
                <a:solidFill>
                  <a:srgbClr val="1B1B1F"/>
                </a:solidFill>
                <a:latin typeface="Calibri" pitchFamily="34" charset="0"/>
                <a:ea typeface="Calibri" pitchFamily="34" charset="-122"/>
                <a:cs typeface="Calibri" pitchFamily="34" charset="-120"/>
              </a:rPr>
              <a:t>MultinomialNB was selected as the final model for deployment.</a:t>
            </a:r>
            <a:endParaRPr lang="en-US" sz="1300" dirty="0"/>
          </a:p>
          <a:p>
            <a:pPr marL="342900" indent="-342900">
              <a:spcAft>
                <a:spcPts val="1200"/>
              </a:spcAft>
              <a:buSzPct val="100000"/>
              <a:buChar char="•"/>
            </a:pPr>
            <a:r>
              <a:rPr lang="en-US" sz="1300" dirty="0">
                <a:solidFill>
                  <a:srgbClr val="1B1B1F"/>
                </a:solidFill>
                <a:latin typeface="Calibri" pitchFamily="34" charset="0"/>
                <a:ea typeface="Calibri" pitchFamily="34" charset="-122"/>
                <a:cs typeface="Calibri" pitchFamily="34" charset="-120"/>
              </a:rPr>
              <a:t>Confusion matrix showed zero false positives and zero false negatives on the test set.</a:t>
            </a:r>
            <a:endParaRPr lang="en-US" sz="1300" dirty="0"/>
          </a:p>
          <a:p>
            <a:pPr marL="342900" indent="-342900">
              <a:buSzPct val="100000"/>
              <a:buChar char="•"/>
            </a:pPr>
            <a:r>
              <a:rPr lang="en-US" sz="1300" dirty="0">
                <a:solidFill>
                  <a:srgbClr val="1B1B1F"/>
                </a:solidFill>
                <a:latin typeface="Calibri" pitchFamily="34" charset="0"/>
                <a:ea typeface="Calibri" pitchFamily="34" charset="-122"/>
                <a:cs typeface="Calibri" pitchFamily="34" charset="-120"/>
              </a:rPr>
              <a:t>Real-world messages will naturally be noisier than this curated dataset; a larger public corpus is recommended before production use.</a:t>
            </a:r>
            <a:endParaRPr lang="en-US" sz="1300" dirty="0"/>
          </a:p>
        </p:txBody>
      </p:sp>
      <p:sp>
        <p:nvSpPr>
          <p:cNvPr id="6" name="Text 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Weekly Task Timeline</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2-month internship schedule</a:t>
            </a:r>
            <a:endParaRPr lang="en-US" sz="1300" dirty="0"/>
          </a:p>
        </p:txBody>
      </p:sp>
      <p:sp>
        <p:nvSpPr>
          <p:cNvPr id="5" name="Shape 3"/>
          <p:cNvSpPr/>
          <p:nvPr/>
        </p:nvSpPr>
        <p:spPr>
          <a:xfrm>
            <a:off x="640080" y="1554480"/>
            <a:ext cx="1828800" cy="758952"/>
          </a:xfrm>
          <a:prstGeom prst="roundRect">
            <a:avLst>
              <a:gd name="adj" fmla="val 7229"/>
            </a:avLst>
          </a:prstGeom>
          <a:solidFill>
            <a:srgbClr val="1E2761"/>
          </a:solidFill>
          <a:ln/>
        </p:spPr>
      </p:sp>
      <p:sp>
        <p:nvSpPr>
          <p:cNvPr id="6" name="Text 4"/>
          <p:cNvSpPr/>
          <p:nvPr/>
        </p:nvSpPr>
        <p:spPr>
          <a:xfrm>
            <a:off x="640080" y="1554480"/>
            <a:ext cx="1828800" cy="75895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Weeks 1-2</a:t>
            </a:r>
            <a:endParaRPr lang="en-US" sz="1400" dirty="0"/>
          </a:p>
        </p:txBody>
      </p:sp>
      <p:sp>
        <p:nvSpPr>
          <p:cNvPr id="7" name="Shape 5"/>
          <p:cNvSpPr/>
          <p:nvPr/>
        </p:nvSpPr>
        <p:spPr>
          <a:xfrm>
            <a:off x="2606040" y="1554480"/>
            <a:ext cx="8915400" cy="758952"/>
          </a:xfrm>
          <a:prstGeom prst="roundRect">
            <a:avLst>
              <a:gd name="adj" fmla="val 7229"/>
            </a:avLst>
          </a:prstGeom>
          <a:solidFill>
            <a:srgbClr val="F4F7FD"/>
          </a:solidFill>
          <a:ln/>
        </p:spPr>
      </p:sp>
      <p:sp>
        <p:nvSpPr>
          <p:cNvPr id="8" name="Text 6"/>
          <p:cNvSpPr/>
          <p:nvPr/>
        </p:nvSpPr>
        <p:spPr>
          <a:xfrm>
            <a:off x="2834640" y="1554480"/>
            <a:ext cx="8503920" cy="758952"/>
          </a:xfrm>
          <a:prstGeom prst="rect">
            <a:avLst/>
          </a:prstGeom>
          <a:noFill/>
          <a:ln/>
        </p:spPr>
        <p:txBody>
          <a:bodyPr wrap="square" lIns="0" tIns="0" rIns="0" bIns="0" rtlCol="0" anchor="ctr"/>
          <a:lstStyle/>
          <a:p>
            <a:pPr indent="0" marL="0">
              <a:buNone/>
            </a:pPr>
            <a:r>
              <a:rPr lang="en-US" sz="1350" dirty="0">
                <a:solidFill>
                  <a:srgbClr val="1B1B1F"/>
                </a:solidFill>
                <a:latin typeface="Calibri" pitchFamily="34" charset="0"/>
                <a:ea typeface="Calibri" pitchFamily="34" charset="-122"/>
                <a:cs typeface="Calibri" pitchFamily="34" charset="-120"/>
              </a:rPr>
              <a:t>Orientation, Python/ML refresher, understanding the problem domain, tool setup</a:t>
            </a:r>
            <a:endParaRPr lang="en-US" sz="1350" dirty="0"/>
          </a:p>
        </p:txBody>
      </p:sp>
      <p:sp>
        <p:nvSpPr>
          <p:cNvPr id="9" name="Shape 7"/>
          <p:cNvSpPr/>
          <p:nvPr/>
        </p:nvSpPr>
        <p:spPr>
          <a:xfrm>
            <a:off x="640080" y="2450592"/>
            <a:ext cx="1828800" cy="758952"/>
          </a:xfrm>
          <a:prstGeom prst="roundRect">
            <a:avLst>
              <a:gd name="adj" fmla="val 7229"/>
            </a:avLst>
          </a:prstGeom>
          <a:solidFill>
            <a:srgbClr val="1E2761"/>
          </a:solidFill>
          <a:ln/>
        </p:spPr>
      </p:sp>
      <p:sp>
        <p:nvSpPr>
          <p:cNvPr id="10" name="Text 8"/>
          <p:cNvSpPr/>
          <p:nvPr/>
        </p:nvSpPr>
        <p:spPr>
          <a:xfrm>
            <a:off x="640080" y="2450592"/>
            <a:ext cx="1828800" cy="75895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Weeks 3-4</a:t>
            </a:r>
            <a:endParaRPr lang="en-US" sz="1400" dirty="0"/>
          </a:p>
        </p:txBody>
      </p:sp>
      <p:sp>
        <p:nvSpPr>
          <p:cNvPr id="11" name="Shape 9"/>
          <p:cNvSpPr/>
          <p:nvPr/>
        </p:nvSpPr>
        <p:spPr>
          <a:xfrm>
            <a:off x="2606040" y="2450592"/>
            <a:ext cx="8915400" cy="758952"/>
          </a:xfrm>
          <a:prstGeom prst="roundRect">
            <a:avLst>
              <a:gd name="adj" fmla="val 7229"/>
            </a:avLst>
          </a:prstGeom>
          <a:solidFill>
            <a:srgbClr val="F4F7FD"/>
          </a:solidFill>
          <a:ln/>
        </p:spPr>
      </p:sp>
      <p:sp>
        <p:nvSpPr>
          <p:cNvPr id="12" name="Text 10"/>
          <p:cNvSpPr/>
          <p:nvPr/>
        </p:nvSpPr>
        <p:spPr>
          <a:xfrm>
            <a:off x="2834640" y="2450592"/>
            <a:ext cx="8503920" cy="758952"/>
          </a:xfrm>
          <a:prstGeom prst="rect">
            <a:avLst/>
          </a:prstGeom>
          <a:noFill/>
          <a:ln/>
        </p:spPr>
        <p:txBody>
          <a:bodyPr wrap="square" lIns="0" tIns="0" rIns="0" bIns="0" rtlCol="0" anchor="ctr"/>
          <a:lstStyle/>
          <a:p>
            <a:pPr indent="0" marL="0">
              <a:buNone/>
            </a:pPr>
            <a:r>
              <a:rPr lang="en-US" sz="1350" dirty="0">
                <a:solidFill>
                  <a:srgbClr val="1B1B1F"/>
                </a:solidFill>
                <a:latin typeface="Calibri" pitchFamily="34" charset="0"/>
                <a:ea typeface="Calibri" pitchFamily="34" charset="-122"/>
                <a:cs typeface="Calibri" pitchFamily="34" charset="-120"/>
              </a:rPr>
              <a:t>Dataset design/collection, text preprocessing pipeline development</a:t>
            </a:r>
            <a:endParaRPr lang="en-US" sz="1350" dirty="0"/>
          </a:p>
        </p:txBody>
      </p:sp>
      <p:sp>
        <p:nvSpPr>
          <p:cNvPr id="13" name="Shape 11"/>
          <p:cNvSpPr/>
          <p:nvPr/>
        </p:nvSpPr>
        <p:spPr>
          <a:xfrm>
            <a:off x="640080" y="3346704"/>
            <a:ext cx="1828800" cy="758952"/>
          </a:xfrm>
          <a:prstGeom prst="roundRect">
            <a:avLst>
              <a:gd name="adj" fmla="val 7229"/>
            </a:avLst>
          </a:prstGeom>
          <a:solidFill>
            <a:srgbClr val="1E2761"/>
          </a:solidFill>
          <a:ln/>
        </p:spPr>
      </p:sp>
      <p:sp>
        <p:nvSpPr>
          <p:cNvPr id="14" name="Text 12"/>
          <p:cNvSpPr/>
          <p:nvPr/>
        </p:nvSpPr>
        <p:spPr>
          <a:xfrm>
            <a:off x="640080" y="3346704"/>
            <a:ext cx="1828800" cy="75895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Weeks 5-6</a:t>
            </a:r>
            <a:endParaRPr lang="en-US" sz="1400" dirty="0"/>
          </a:p>
        </p:txBody>
      </p:sp>
      <p:sp>
        <p:nvSpPr>
          <p:cNvPr id="15" name="Shape 13"/>
          <p:cNvSpPr/>
          <p:nvPr/>
        </p:nvSpPr>
        <p:spPr>
          <a:xfrm>
            <a:off x="2606040" y="3346704"/>
            <a:ext cx="8915400" cy="758952"/>
          </a:xfrm>
          <a:prstGeom prst="roundRect">
            <a:avLst>
              <a:gd name="adj" fmla="val 7229"/>
            </a:avLst>
          </a:prstGeom>
          <a:solidFill>
            <a:srgbClr val="F4F7FD"/>
          </a:solidFill>
          <a:ln/>
        </p:spPr>
      </p:sp>
      <p:sp>
        <p:nvSpPr>
          <p:cNvPr id="16" name="Text 14"/>
          <p:cNvSpPr/>
          <p:nvPr/>
        </p:nvSpPr>
        <p:spPr>
          <a:xfrm>
            <a:off x="2834640" y="3346704"/>
            <a:ext cx="8503920" cy="758952"/>
          </a:xfrm>
          <a:prstGeom prst="rect">
            <a:avLst/>
          </a:prstGeom>
          <a:noFill/>
          <a:ln/>
        </p:spPr>
        <p:txBody>
          <a:bodyPr wrap="square" lIns="0" tIns="0" rIns="0" bIns="0" rtlCol="0" anchor="ctr"/>
          <a:lstStyle/>
          <a:p>
            <a:pPr indent="0" marL="0">
              <a:buNone/>
            </a:pPr>
            <a:r>
              <a:rPr lang="en-US" sz="1350" dirty="0">
                <a:solidFill>
                  <a:srgbClr val="1B1B1F"/>
                </a:solidFill>
                <a:latin typeface="Calibri" pitchFamily="34" charset="0"/>
                <a:ea typeface="Calibri" pitchFamily="34" charset="-122"/>
                <a:cs typeface="Calibri" pitchFamily="34" charset="-120"/>
              </a:rPr>
              <a:t>Feature extraction (TF-IDF), model training, hyperparameter experimentation</a:t>
            </a:r>
            <a:endParaRPr lang="en-US" sz="1350" dirty="0"/>
          </a:p>
        </p:txBody>
      </p:sp>
      <p:sp>
        <p:nvSpPr>
          <p:cNvPr id="17" name="Shape 15"/>
          <p:cNvSpPr/>
          <p:nvPr/>
        </p:nvSpPr>
        <p:spPr>
          <a:xfrm>
            <a:off x="640080" y="4242816"/>
            <a:ext cx="1828800" cy="758952"/>
          </a:xfrm>
          <a:prstGeom prst="roundRect">
            <a:avLst>
              <a:gd name="adj" fmla="val 7229"/>
            </a:avLst>
          </a:prstGeom>
          <a:solidFill>
            <a:srgbClr val="1E2761"/>
          </a:solidFill>
          <a:ln/>
        </p:spPr>
      </p:sp>
      <p:sp>
        <p:nvSpPr>
          <p:cNvPr id="18" name="Text 16"/>
          <p:cNvSpPr/>
          <p:nvPr/>
        </p:nvSpPr>
        <p:spPr>
          <a:xfrm>
            <a:off x="640080" y="4242816"/>
            <a:ext cx="1828800" cy="75895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Weeks 7</a:t>
            </a:r>
            <a:endParaRPr lang="en-US" sz="1400" dirty="0"/>
          </a:p>
        </p:txBody>
      </p:sp>
      <p:sp>
        <p:nvSpPr>
          <p:cNvPr id="19" name="Shape 17"/>
          <p:cNvSpPr/>
          <p:nvPr/>
        </p:nvSpPr>
        <p:spPr>
          <a:xfrm>
            <a:off x="2606040" y="4242816"/>
            <a:ext cx="8915400" cy="758952"/>
          </a:xfrm>
          <a:prstGeom prst="roundRect">
            <a:avLst>
              <a:gd name="adj" fmla="val 7229"/>
            </a:avLst>
          </a:prstGeom>
          <a:solidFill>
            <a:srgbClr val="F4F7FD"/>
          </a:solidFill>
          <a:ln/>
        </p:spPr>
      </p:sp>
      <p:sp>
        <p:nvSpPr>
          <p:cNvPr id="20" name="Text 18"/>
          <p:cNvSpPr/>
          <p:nvPr/>
        </p:nvSpPr>
        <p:spPr>
          <a:xfrm>
            <a:off x="2834640" y="4242816"/>
            <a:ext cx="8503920" cy="758952"/>
          </a:xfrm>
          <a:prstGeom prst="rect">
            <a:avLst/>
          </a:prstGeom>
          <a:noFill/>
          <a:ln/>
        </p:spPr>
        <p:txBody>
          <a:bodyPr wrap="square" lIns="0" tIns="0" rIns="0" bIns="0" rtlCol="0" anchor="ctr"/>
          <a:lstStyle/>
          <a:p>
            <a:pPr indent="0" marL="0">
              <a:buNone/>
            </a:pPr>
            <a:r>
              <a:rPr lang="en-US" sz="1350" dirty="0">
                <a:solidFill>
                  <a:srgbClr val="1B1B1F"/>
                </a:solidFill>
                <a:latin typeface="Calibri" pitchFamily="34" charset="0"/>
                <a:ea typeface="Calibri" pitchFamily="34" charset="-122"/>
                <a:cs typeface="Calibri" pitchFamily="34" charset="-120"/>
              </a:rPr>
              <a:t>Model evaluation, comparison, and selection of the best classifier</a:t>
            </a:r>
            <a:endParaRPr lang="en-US" sz="1350" dirty="0"/>
          </a:p>
        </p:txBody>
      </p:sp>
      <p:sp>
        <p:nvSpPr>
          <p:cNvPr id="21" name="Shape 19"/>
          <p:cNvSpPr/>
          <p:nvPr/>
        </p:nvSpPr>
        <p:spPr>
          <a:xfrm>
            <a:off x="640080" y="5138928"/>
            <a:ext cx="1828800" cy="758952"/>
          </a:xfrm>
          <a:prstGeom prst="roundRect">
            <a:avLst>
              <a:gd name="adj" fmla="val 7229"/>
            </a:avLst>
          </a:prstGeom>
          <a:solidFill>
            <a:srgbClr val="1E2761"/>
          </a:solidFill>
          <a:ln/>
        </p:spPr>
      </p:sp>
      <p:sp>
        <p:nvSpPr>
          <p:cNvPr id="22" name="Text 20"/>
          <p:cNvSpPr/>
          <p:nvPr/>
        </p:nvSpPr>
        <p:spPr>
          <a:xfrm>
            <a:off x="640080" y="5138928"/>
            <a:ext cx="1828800" cy="75895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Week 8</a:t>
            </a:r>
            <a:endParaRPr lang="en-US" sz="1400" dirty="0"/>
          </a:p>
        </p:txBody>
      </p:sp>
      <p:sp>
        <p:nvSpPr>
          <p:cNvPr id="23" name="Shape 21"/>
          <p:cNvSpPr/>
          <p:nvPr/>
        </p:nvSpPr>
        <p:spPr>
          <a:xfrm>
            <a:off x="2606040" y="5138928"/>
            <a:ext cx="8915400" cy="758952"/>
          </a:xfrm>
          <a:prstGeom prst="roundRect">
            <a:avLst>
              <a:gd name="adj" fmla="val 7229"/>
            </a:avLst>
          </a:prstGeom>
          <a:solidFill>
            <a:srgbClr val="F4F7FD"/>
          </a:solidFill>
          <a:ln/>
        </p:spPr>
      </p:sp>
      <p:sp>
        <p:nvSpPr>
          <p:cNvPr id="24" name="Text 22"/>
          <p:cNvSpPr/>
          <p:nvPr/>
        </p:nvSpPr>
        <p:spPr>
          <a:xfrm>
            <a:off x="2834640" y="5138928"/>
            <a:ext cx="8503920" cy="758952"/>
          </a:xfrm>
          <a:prstGeom prst="rect">
            <a:avLst/>
          </a:prstGeom>
          <a:noFill/>
          <a:ln/>
        </p:spPr>
        <p:txBody>
          <a:bodyPr wrap="square" lIns="0" tIns="0" rIns="0" bIns="0" rtlCol="0" anchor="ctr"/>
          <a:lstStyle/>
          <a:p>
            <a:pPr indent="0" marL="0">
              <a:buNone/>
            </a:pPr>
            <a:r>
              <a:rPr lang="en-US" sz="1350" dirty="0">
                <a:solidFill>
                  <a:srgbClr val="1B1B1F"/>
                </a:solidFill>
                <a:latin typeface="Calibri" pitchFamily="34" charset="0"/>
                <a:ea typeface="Calibri" pitchFamily="34" charset="-122"/>
                <a:cs typeface="Calibri" pitchFamily="34" charset="-120"/>
              </a:rPr>
              <a:t>Building the CLI &amp; Streamlit app, testing, documentation and final report</a:t>
            </a:r>
            <a:endParaRPr lang="en-US" sz="1350" dirty="0"/>
          </a:p>
        </p:txBody>
      </p:sp>
      <p:sp>
        <p:nvSpPr>
          <p:cNvPr id="25" name="Text 23"/>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Challenges Faced</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Obstacles encountered and how they were resolved</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Limited real-world labeled data</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Solved by designing a template-based synthetic dataset generator with realistic lexical variety.</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Class imbalance risk</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Addressed by ensuring an even 150/150 spam-ham split and using stratified train/test splitting.</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Choosing the right features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Compared unigram vs bigram TF-IDF configurations to balance vocabulary size and signal.</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Overfitting risk with small datasets</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Mitigated with cross-validation practices and by keeping the model family simple/interpretable.</a:t>
            </a:r>
            <a:endParaRPr lang="en-US" sz="1600" dirty="0"/>
          </a:p>
          <a:p>
            <a:pPr marL="342900" indent="-342900">
              <a:spcAft>
                <a:spcPts val="1000"/>
              </a:spcAft>
              <a:buSzPct val="100000"/>
              <a:buChar char="•"/>
            </a:pPr>
            <a:r>
              <a:rPr lang="en-US" sz="1600" dirty="0">
                <a:solidFill>
                  <a:srgbClr val="1B1B1F"/>
                </a:solidFill>
                <a:latin typeface="Calibri" pitchFamily="34" charset="0"/>
                <a:ea typeface="Calibri" pitchFamily="34" charset="-122"/>
                <a:cs typeface="Calibri" pitchFamily="34" charset="-120"/>
              </a:rPr>
              <a:t>Deploying the model interactively</a:t>
            </a:r>
            <a:endParaRPr lang="en-US" sz="1600" dirty="0"/>
          </a:p>
          <a:p>
            <a:pPr lvl="1" indent="0" marL="0">
              <a:spcAft>
                <a:spcPts val="1000"/>
              </a:spcAft>
              <a:buNone/>
            </a:pPr>
            <a:r>
              <a:rPr lang="en-US" sz="1400" i="1" dirty="0">
                <a:solidFill>
                  <a:srgbClr val="5B6472"/>
                </a:solidFill>
                <a:latin typeface="Calibri" pitchFamily="34" charset="0"/>
                <a:ea typeface="Calibri" pitchFamily="34" charset="-122"/>
                <a:cs typeface="Calibri" pitchFamily="34" charset="-120"/>
              </a:rPr>
              <a:t>Learned Streamlit to quickly build a usable front-end for non-technical demonstration.</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Learning Outcomes</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Skills and knowledge gained</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Practical experience with the end-to-end machine learning workflow, from raw data to a deployed application.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Hands-on understanding of NLP preprocessing techniques and TF-IDF feature engineering.</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Ability to train, evaluate, and compare multiple ML algorithms using standard metrics.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Experience building interactive applications with Streamlit for model demonstration.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Improved skills in Python project structuring, version control with Git, and technical documentation.</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Better understanding of real-world considerations in spam detection, such as false-positive costs.</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Future Enhancements</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Where this project could go next</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Train on a larger, real-world public dataset (e.g. UCI SMS Spam Collection, Enron spam corpus).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Experiment with deep learning approaches (LSTM, BERT-based transformers) for higher accuracy.</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Add support for classifying full email headers and attachments, not just message body text.</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Deploy the model as a REST API for integration into real email clients or servers.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Implement continuous learning so the model adapts to new spam patterns over time.</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Add explainability (e.g. highlighting which words triggered a spam prediction).</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Text 1"/>
          <p:cNvSpPr/>
          <p:nvPr/>
        </p:nvSpPr>
        <p:spPr>
          <a:xfrm>
            <a:off x="822960" y="1645920"/>
            <a:ext cx="10424160" cy="4206240"/>
          </a:xfrm>
          <a:prstGeom prst="rect">
            <a:avLst/>
          </a:prstGeom>
          <a:noFill/>
          <a:ln/>
        </p:spPr>
        <p:txBody>
          <a:bodyPr wrap="square" lIns="0" tIns="0" rIns="0" bIns="0" rtlCol="0" anchor="ctr"/>
          <a:lstStyle/>
          <a:p>
            <a:pPr indent="0" marL="0">
              <a:lnSpc>
                <a:spcPct val="140000"/>
              </a:lnSpc>
              <a:buNone/>
            </a:pPr>
            <a:r>
              <a:rPr lang="en-US" sz="1600" dirty="0">
                <a:solidFill>
                  <a:srgbClr val="CADCFC"/>
                </a:solidFill>
                <a:latin typeface="Calibri" pitchFamily="34" charset="0"/>
                <a:ea typeface="Calibri" pitchFamily="34" charset="-122"/>
                <a:cs typeface="Calibri" pitchFamily="34" charset="-120"/>
              </a:rPr>
              <a:t>This internship project successfully demonstrates how classical machine learning techniques — TF-IDF feature extraction combined with Naive Bayes and Logistic Regression classifiers — can build an effective spam email classifier. The system was implemented end-to-end: data preparation, model training, rigorous evaluation, and deployment through both a command-line tool and an interactive web application.</a:t>
            </a:r>
            <a:endParaRPr lang="en-US" sz="1600" dirty="0"/>
          </a:p>
          <a:p>
            <a:pPr indent="0" marL="0">
              <a:lnSpc>
                <a:spcPct val="140000"/>
              </a:lnSpc>
              <a:buNone/>
            </a:pPr>
            <a:endParaRPr lang="en-US" sz="1600" dirty="0"/>
          </a:p>
          <a:p>
            <a:pPr indent="0" marL="0">
              <a:lnSpc>
                <a:spcPct val="140000"/>
              </a:lnSpc>
              <a:buNone/>
            </a:pPr>
            <a:r>
              <a:rPr lang="en-US" sz="1600" dirty="0">
                <a:solidFill>
                  <a:srgbClr val="CADCFC"/>
                </a:solidFill>
                <a:latin typeface="Calibri" pitchFamily="34" charset="0"/>
                <a:ea typeface="Calibri" pitchFamily="34" charset="-122"/>
                <a:cs typeface="Calibri" pitchFamily="34" charset="-120"/>
              </a:rPr>
              <a:t>Beyond the technical deliverable, this internship at Alpha Innovations provided valuable exposure to structured ML project development, version control practices, and real-world problem framing — forming a strong foundation for future work in applied machine learning.</a:t>
            </a:r>
            <a:endParaRPr lang="en-US" sz="1600" dirty="0"/>
          </a:p>
        </p:txBody>
      </p:sp>
      <p:sp>
        <p:nvSpPr>
          <p:cNvPr id="4" name="Text 2"/>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E2761"/>
          </a:solidFill>
          <a:ln/>
        </p:spPr>
      </p:sp>
      <p:sp>
        <p:nvSpPr>
          <p:cNvPr id="3" name="Text 1"/>
          <p:cNvSpPr/>
          <p:nvPr/>
        </p:nvSpPr>
        <p:spPr>
          <a:xfrm>
            <a:off x="457200" y="164592"/>
            <a:ext cx="11274552"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457200" y="658368"/>
            <a:ext cx="11274552"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Sources and further reading</a:t>
            </a:r>
            <a:endParaRPr lang="en-US" sz="1300" dirty="0"/>
          </a:p>
        </p:txBody>
      </p:sp>
      <p:sp>
        <p:nvSpPr>
          <p:cNvPr id="5" name="Text 3"/>
          <p:cNvSpPr/>
          <p:nvPr/>
        </p:nvSpPr>
        <p:spPr>
          <a:xfrm>
            <a:off x="640080" y="1371600"/>
            <a:ext cx="10908792" cy="502920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Scikit-learn documentation — https://scikit-learn.org/stable/</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Streamlit documentation — https://docs.streamlit.io/</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UCI Machine Learning Repository — SMS Spam Collection Dataset</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Pandas documentation — https://pandas.pydata.org/docs/</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"Introduction to Information Retrieval" — Manning, Raghavan &amp; Schütze (TF-IDF background)</a:t>
            </a:r>
            <a:endParaRPr lang="en-US" sz="1600" dirty="0"/>
          </a:p>
          <a:p>
            <a:pPr marL="342900" indent="-342900">
              <a:spcAft>
                <a:spcPts val="1200"/>
              </a:spcAft>
              <a:buSzPct val="100000"/>
              <a:buChar char="•"/>
            </a:pPr>
            <a:r>
              <a:rPr lang="en-US" sz="1600" dirty="0">
                <a:solidFill>
                  <a:srgbClr val="1B1B1F"/>
                </a:solidFill>
                <a:latin typeface="Calibri" pitchFamily="34" charset="0"/>
                <a:ea typeface="Calibri" pitchFamily="34" charset="-122"/>
                <a:cs typeface="Calibri" pitchFamily="34" charset="-120"/>
              </a:rPr>
              <a:t>GitHub documentation — https://docs.github.com/</a:t>
            </a:r>
            <a:endParaRPr lang="en-US" sz="1600" dirty="0"/>
          </a:p>
        </p:txBody>
      </p:sp>
      <p:sp>
        <p:nvSpPr>
          <p:cNvPr id="6" name="Text 4"/>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000" dirty="0">
                <a:solidFill>
                  <a:srgbClr val="5B6472"/>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2026-07-19T06:51:45Z</dcterms:created>
  <dcterms:modified xsi:type="dcterms:W3CDTF">2026-07-19T06:51:45Z</dcterms:modified>
</cp:coreProperties>
</file>